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498209" y="1847786"/>
            <a:ext cx="5464175" cy="4697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660" y="125094"/>
            <a:ext cx="808291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64300" y="1562417"/>
            <a:ext cx="5663565" cy="2503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57818" y="847725"/>
            <a:ext cx="4638675" cy="5162550"/>
          </a:xfrm>
          <a:custGeom>
            <a:avLst/>
            <a:gdLst/>
            <a:ahLst/>
            <a:cxnLst/>
            <a:rect l="l" t="t" r="r" b="b"/>
            <a:pathLst>
              <a:path w="4638675" h="5162550">
                <a:moveTo>
                  <a:pt x="1873281" y="0"/>
                </a:moveTo>
                <a:lnTo>
                  <a:pt x="1179988" y="0"/>
                </a:lnTo>
                <a:lnTo>
                  <a:pt x="1147335" y="5790"/>
                </a:lnTo>
                <a:lnTo>
                  <a:pt x="1092174" y="48756"/>
                </a:lnTo>
                <a:lnTo>
                  <a:pt x="1072165" y="83692"/>
                </a:lnTo>
                <a:lnTo>
                  <a:pt x="726344" y="882523"/>
                </a:lnTo>
                <a:lnTo>
                  <a:pt x="713700" y="922043"/>
                </a:lnTo>
                <a:lnTo>
                  <a:pt x="709485" y="964184"/>
                </a:lnTo>
                <a:lnTo>
                  <a:pt x="713700" y="1006324"/>
                </a:lnTo>
                <a:lnTo>
                  <a:pt x="726344" y="1045845"/>
                </a:lnTo>
                <a:lnTo>
                  <a:pt x="1072165" y="1844675"/>
                </a:lnTo>
                <a:lnTo>
                  <a:pt x="1092184" y="1879615"/>
                </a:lnTo>
                <a:lnTo>
                  <a:pt x="1118520" y="1906397"/>
                </a:lnTo>
                <a:lnTo>
                  <a:pt x="1092866" y="1965960"/>
                </a:lnTo>
                <a:lnTo>
                  <a:pt x="786923" y="2672207"/>
                </a:lnTo>
                <a:lnTo>
                  <a:pt x="769379" y="2718113"/>
                </a:lnTo>
                <a:lnTo>
                  <a:pt x="756848" y="2766349"/>
                </a:lnTo>
                <a:lnTo>
                  <a:pt x="749329" y="2816140"/>
                </a:lnTo>
                <a:lnTo>
                  <a:pt x="746823" y="2866707"/>
                </a:lnTo>
                <a:lnTo>
                  <a:pt x="749329" y="2917274"/>
                </a:lnTo>
                <a:lnTo>
                  <a:pt x="756848" y="2967065"/>
                </a:lnTo>
                <a:lnTo>
                  <a:pt x="769379" y="3015301"/>
                </a:lnTo>
                <a:lnTo>
                  <a:pt x="786923" y="3061207"/>
                </a:lnTo>
                <a:lnTo>
                  <a:pt x="1610645" y="4963325"/>
                </a:lnTo>
                <a:lnTo>
                  <a:pt x="1636086" y="5013193"/>
                </a:lnTo>
                <a:lnTo>
                  <a:pt x="1666206" y="5056755"/>
                </a:lnTo>
                <a:lnTo>
                  <a:pt x="1700442" y="5093514"/>
                </a:lnTo>
                <a:lnTo>
                  <a:pt x="1738233" y="5122970"/>
                </a:lnTo>
                <a:lnTo>
                  <a:pt x="1779017" y="5144627"/>
                </a:lnTo>
                <a:lnTo>
                  <a:pt x="1822230" y="5157986"/>
                </a:lnTo>
                <a:lnTo>
                  <a:pt x="1867312" y="5162550"/>
                </a:lnTo>
                <a:lnTo>
                  <a:pt x="3518185" y="5162550"/>
                </a:lnTo>
                <a:lnTo>
                  <a:pt x="3562144" y="5157986"/>
                </a:lnTo>
                <a:lnTo>
                  <a:pt x="3604868" y="5144627"/>
                </a:lnTo>
                <a:lnTo>
                  <a:pt x="3645541" y="5122970"/>
                </a:lnTo>
                <a:lnTo>
                  <a:pt x="3683349" y="5093514"/>
                </a:lnTo>
                <a:lnTo>
                  <a:pt x="3717475" y="5056755"/>
                </a:lnTo>
                <a:lnTo>
                  <a:pt x="3747105" y="5013193"/>
                </a:lnTo>
                <a:lnTo>
                  <a:pt x="3771423" y="4963325"/>
                </a:lnTo>
                <a:lnTo>
                  <a:pt x="4598574" y="3061208"/>
                </a:lnTo>
                <a:lnTo>
                  <a:pt x="4616118" y="3015301"/>
                </a:lnTo>
                <a:lnTo>
                  <a:pt x="4628649" y="2967065"/>
                </a:lnTo>
                <a:lnTo>
                  <a:pt x="4636168" y="2917274"/>
                </a:lnTo>
                <a:lnTo>
                  <a:pt x="4638674" y="2866707"/>
                </a:lnTo>
                <a:lnTo>
                  <a:pt x="4636168" y="2816140"/>
                </a:lnTo>
                <a:lnTo>
                  <a:pt x="4628649" y="2766349"/>
                </a:lnTo>
                <a:lnTo>
                  <a:pt x="4616118" y="2718113"/>
                </a:lnTo>
                <a:lnTo>
                  <a:pt x="4598574" y="2672207"/>
                </a:lnTo>
                <a:lnTo>
                  <a:pt x="4271016" y="1918970"/>
                </a:lnTo>
                <a:lnTo>
                  <a:pt x="1177067" y="1918970"/>
                </a:lnTo>
                <a:lnTo>
                  <a:pt x="1168717" y="1918594"/>
                </a:lnTo>
                <a:lnTo>
                  <a:pt x="1160462" y="1917493"/>
                </a:lnTo>
                <a:lnTo>
                  <a:pt x="1152350" y="1915701"/>
                </a:lnTo>
                <a:lnTo>
                  <a:pt x="1144428" y="1913254"/>
                </a:lnTo>
                <a:lnTo>
                  <a:pt x="1125124" y="1902460"/>
                </a:lnTo>
                <a:lnTo>
                  <a:pt x="1143793" y="1859407"/>
                </a:lnTo>
                <a:lnTo>
                  <a:pt x="1168685" y="1801622"/>
                </a:lnTo>
                <a:lnTo>
                  <a:pt x="1131949" y="1761112"/>
                </a:lnTo>
                <a:lnTo>
                  <a:pt x="817149" y="1036574"/>
                </a:lnTo>
                <a:lnTo>
                  <a:pt x="802200" y="964184"/>
                </a:lnTo>
                <a:lnTo>
                  <a:pt x="805934" y="926792"/>
                </a:lnTo>
                <a:lnTo>
                  <a:pt x="1123727" y="183641"/>
                </a:lnTo>
                <a:lnTo>
                  <a:pt x="1164066" y="129254"/>
                </a:lnTo>
                <a:lnTo>
                  <a:pt x="1219358" y="109347"/>
                </a:lnTo>
                <a:lnTo>
                  <a:pt x="1990742" y="109347"/>
                </a:lnTo>
                <a:lnTo>
                  <a:pt x="1979580" y="83692"/>
                </a:lnTo>
                <a:lnTo>
                  <a:pt x="1960239" y="48756"/>
                </a:lnTo>
                <a:lnTo>
                  <a:pt x="1934860" y="22415"/>
                </a:lnTo>
                <a:lnTo>
                  <a:pt x="1905267" y="5790"/>
                </a:lnTo>
                <a:lnTo>
                  <a:pt x="1873281" y="0"/>
                </a:lnTo>
                <a:close/>
              </a:path>
              <a:path w="4638675" h="5162550">
                <a:moveTo>
                  <a:pt x="673766" y="3129788"/>
                </a:moveTo>
                <a:lnTo>
                  <a:pt x="272446" y="3129788"/>
                </a:lnTo>
                <a:lnTo>
                  <a:pt x="253539" y="3133133"/>
                </a:lnTo>
                <a:lnTo>
                  <a:pt x="221583" y="3157970"/>
                </a:lnTo>
                <a:lnTo>
                  <a:pt x="9810" y="3640581"/>
                </a:lnTo>
                <a:lnTo>
                  <a:pt x="0" y="3687889"/>
                </a:lnTo>
                <a:lnTo>
                  <a:pt x="2452" y="3712305"/>
                </a:lnTo>
                <a:lnTo>
                  <a:pt x="209962" y="4197604"/>
                </a:lnTo>
                <a:lnTo>
                  <a:pt x="236347" y="4233037"/>
                </a:lnTo>
                <a:lnTo>
                  <a:pt x="272446" y="4245991"/>
                </a:lnTo>
                <a:lnTo>
                  <a:pt x="673766" y="4245991"/>
                </a:lnTo>
                <a:lnTo>
                  <a:pt x="724076" y="4217808"/>
                </a:lnTo>
                <a:lnTo>
                  <a:pt x="936402" y="3735197"/>
                </a:lnTo>
                <a:lnTo>
                  <a:pt x="946118" y="3687889"/>
                </a:lnTo>
                <a:lnTo>
                  <a:pt x="943689" y="3663473"/>
                </a:lnTo>
                <a:lnTo>
                  <a:pt x="735234" y="3178175"/>
                </a:lnTo>
                <a:lnTo>
                  <a:pt x="709406" y="3142742"/>
                </a:lnTo>
                <a:lnTo>
                  <a:pt x="673766" y="3129788"/>
                </a:lnTo>
                <a:close/>
              </a:path>
              <a:path w="4638675" h="5162550">
                <a:moveTo>
                  <a:pt x="3518185" y="570864"/>
                </a:moveTo>
                <a:lnTo>
                  <a:pt x="2192686" y="570864"/>
                </a:lnTo>
                <a:lnTo>
                  <a:pt x="2324131" y="873125"/>
                </a:lnTo>
                <a:lnTo>
                  <a:pt x="2336776" y="912645"/>
                </a:lnTo>
                <a:lnTo>
                  <a:pt x="2340986" y="954833"/>
                </a:lnTo>
                <a:lnTo>
                  <a:pt x="2336776" y="996926"/>
                </a:lnTo>
                <a:lnTo>
                  <a:pt x="2324076" y="1036574"/>
                </a:lnTo>
                <a:lnTo>
                  <a:pt x="1976659" y="1835277"/>
                </a:lnTo>
                <a:lnTo>
                  <a:pt x="1957318" y="1870213"/>
                </a:lnTo>
                <a:lnTo>
                  <a:pt x="1931939" y="1896554"/>
                </a:lnTo>
                <a:lnTo>
                  <a:pt x="1902212" y="1913254"/>
                </a:lnTo>
                <a:lnTo>
                  <a:pt x="1901930" y="1913254"/>
                </a:lnTo>
                <a:lnTo>
                  <a:pt x="1870360" y="1918970"/>
                </a:lnTo>
                <a:lnTo>
                  <a:pt x="4271016" y="1918970"/>
                </a:lnTo>
                <a:lnTo>
                  <a:pt x="3771423" y="770127"/>
                </a:lnTo>
                <a:lnTo>
                  <a:pt x="3747105" y="720261"/>
                </a:lnTo>
                <a:lnTo>
                  <a:pt x="3717475" y="676695"/>
                </a:lnTo>
                <a:lnTo>
                  <a:pt x="3683349" y="639929"/>
                </a:lnTo>
                <a:lnTo>
                  <a:pt x="3645541" y="610463"/>
                </a:lnTo>
                <a:lnTo>
                  <a:pt x="3604868" y="588797"/>
                </a:lnTo>
                <a:lnTo>
                  <a:pt x="3562144" y="575431"/>
                </a:lnTo>
                <a:lnTo>
                  <a:pt x="3518185" y="570864"/>
                </a:lnTo>
                <a:close/>
              </a:path>
              <a:path w="4638675" h="5162550">
                <a:moveTo>
                  <a:pt x="2097817" y="570864"/>
                </a:moveTo>
                <a:lnTo>
                  <a:pt x="1867312" y="570864"/>
                </a:lnTo>
                <a:lnTo>
                  <a:pt x="1822230" y="575431"/>
                </a:lnTo>
                <a:lnTo>
                  <a:pt x="1779017" y="588797"/>
                </a:lnTo>
                <a:lnTo>
                  <a:pt x="1738233" y="610463"/>
                </a:lnTo>
                <a:lnTo>
                  <a:pt x="1700442" y="639929"/>
                </a:lnTo>
                <a:lnTo>
                  <a:pt x="1666206" y="676695"/>
                </a:lnTo>
                <a:lnTo>
                  <a:pt x="1636086" y="720261"/>
                </a:lnTo>
                <a:lnTo>
                  <a:pt x="1610645" y="770127"/>
                </a:lnTo>
                <a:lnTo>
                  <a:pt x="1167542" y="1793366"/>
                </a:lnTo>
                <a:lnTo>
                  <a:pt x="1187685" y="1804481"/>
                </a:lnTo>
                <a:lnTo>
                  <a:pt x="1194506" y="1806676"/>
                </a:lnTo>
                <a:lnTo>
                  <a:pt x="1201674" y="1808305"/>
                </a:lnTo>
                <a:lnTo>
                  <a:pt x="1208984" y="1809291"/>
                </a:lnTo>
                <a:lnTo>
                  <a:pt x="1216437" y="1809623"/>
                </a:lnTo>
                <a:lnTo>
                  <a:pt x="1830990" y="1809623"/>
                </a:lnTo>
                <a:lnTo>
                  <a:pt x="1885584" y="1789731"/>
                </a:lnTo>
                <a:lnTo>
                  <a:pt x="1925224" y="1735454"/>
                </a:lnTo>
                <a:lnTo>
                  <a:pt x="2233326" y="1027176"/>
                </a:lnTo>
                <a:lnTo>
                  <a:pt x="2248185" y="954833"/>
                </a:lnTo>
                <a:lnTo>
                  <a:pt x="2244470" y="917465"/>
                </a:lnTo>
                <a:lnTo>
                  <a:pt x="2233367" y="882523"/>
                </a:lnTo>
                <a:lnTo>
                  <a:pt x="2097817" y="570864"/>
                </a:lnTo>
                <a:close/>
              </a:path>
              <a:path w="4638675" h="5162550">
                <a:moveTo>
                  <a:pt x="1990742" y="109347"/>
                </a:moveTo>
                <a:lnTo>
                  <a:pt x="1833911" y="109347"/>
                </a:lnTo>
                <a:lnTo>
                  <a:pt x="1862318" y="114490"/>
                </a:lnTo>
                <a:lnTo>
                  <a:pt x="1888569" y="129254"/>
                </a:lnTo>
                <a:lnTo>
                  <a:pt x="1911082" y="152638"/>
                </a:lnTo>
                <a:lnTo>
                  <a:pt x="1928272" y="183641"/>
                </a:lnTo>
                <a:lnTo>
                  <a:pt x="2092102" y="560577"/>
                </a:lnTo>
                <a:lnTo>
                  <a:pt x="2186971" y="560577"/>
                </a:lnTo>
                <a:lnTo>
                  <a:pt x="2166016" y="512190"/>
                </a:lnTo>
                <a:lnTo>
                  <a:pt x="1990742" y="109347"/>
                </a:lnTo>
                <a:close/>
              </a:path>
            </a:pathLst>
          </a:custGeom>
          <a:solidFill>
            <a:srgbClr val="7E7E7E">
              <a:alpha val="1490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-85">
                <a:solidFill>
                  <a:srgbClr val="1F487C"/>
                </a:solidFill>
              </a:rPr>
              <a:t>SMART</a:t>
            </a:r>
            <a:r>
              <a:rPr dirty="0" sz="3950" spc="85">
                <a:solidFill>
                  <a:srgbClr val="1F487C"/>
                </a:solidFill>
              </a:rPr>
              <a:t> </a:t>
            </a:r>
            <a:r>
              <a:rPr dirty="0" sz="3950" spc="120">
                <a:solidFill>
                  <a:srgbClr val="1F487C"/>
                </a:solidFill>
              </a:rPr>
              <a:t>INDIA</a:t>
            </a:r>
            <a:r>
              <a:rPr dirty="0" sz="3950" spc="65">
                <a:solidFill>
                  <a:srgbClr val="1F487C"/>
                </a:solidFill>
              </a:rPr>
              <a:t> </a:t>
            </a:r>
            <a:r>
              <a:rPr dirty="0" sz="3950">
                <a:solidFill>
                  <a:srgbClr val="1F487C"/>
                </a:solidFill>
              </a:rPr>
              <a:t>HACKATHON</a:t>
            </a:r>
            <a:r>
              <a:rPr dirty="0" sz="3950" spc="75">
                <a:solidFill>
                  <a:srgbClr val="1F487C"/>
                </a:solidFill>
              </a:rPr>
              <a:t> </a:t>
            </a:r>
            <a:r>
              <a:rPr dirty="0" sz="3950" spc="-20">
                <a:solidFill>
                  <a:srgbClr val="1F487C"/>
                </a:solidFill>
              </a:rPr>
              <a:t>2026</a:t>
            </a:r>
            <a:endParaRPr sz="3950"/>
          </a:p>
        </p:txBody>
      </p:sp>
      <p:sp>
        <p:nvSpPr>
          <p:cNvPr id="4" name="object 4"/>
          <p:cNvSpPr txBox="1"/>
          <p:nvPr/>
        </p:nvSpPr>
        <p:spPr>
          <a:xfrm>
            <a:off x="410209" y="1064260"/>
            <a:ext cx="8545195" cy="552259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algn="ctr" marL="1743075">
              <a:lnSpc>
                <a:spcPct val="100000"/>
              </a:lnSpc>
              <a:spcBef>
                <a:spcPts val="910"/>
              </a:spcBef>
            </a:pPr>
            <a:r>
              <a:rPr dirty="0" sz="3200" spc="-10" b="1">
                <a:latin typeface="Calibri"/>
                <a:cs typeface="Calibri"/>
              </a:rPr>
              <a:t>SHAAS</a:t>
            </a:r>
            <a:endParaRPr sz="3200">
              <a:latin typeface="Calibri"/>
              <a:cs typeface="Calibri"/>
            </a:endParaRPr>
          </a:p>
          <a:p>
            <a:pPr algn="ctr" marL="1741170">
              <a:lnSpc>
                <a:spcPct val="100000"/>
              </a:lnSpc>
              <a:spcBef>
                <a:spcPts val="820"/>
              </a:spcBef>
            </a:pPr>
            <a:r>
              <a:rPr dirty="0" sz="3200" b="1">
                <a:latin typeface="Calibri"/>
                <a:cs typeface="Calibri"/>
              </a:rPr>
              <a:t>Smart</a:t>
            </a:r>
            <a:r>
              <a:rPr dirty="0" sz="3200" spc="-15" b="1">
                <a:latin typeface="Calibri"/>
                <a:cs typeface="Calibri"/>
              </a:rPr>
              <a:t> </a:t>
            </a:r>
            <a:r>
              <a:rPr dirty="0" sz="3200" spc="-25" b="1">
                <a:latin typeface="Calibri"/>
                <a:cs typeface="Calibri"/>
              </a:rPr>
              <a:t>High-</a:t>
            </a:r>
            <a:r>
              <a:rPr dirty="0" sz="3200" b="1">
                <a:latin typeface="Calibri"/>
                <a:cs typeface="Calibri"/>
              </a:rPr>
              <a:t>Altitude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Automation</a:t>
            </a:r>
            <a:r>
              <a:rPr dirty="0" sz="3200" spc="-2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System</a:t>
            </a:r>
            <a:endParaRPr sz="32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272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latin typeface="Arial"/>
                <a:cs typeface="Arial"/>
              </a:rPr>
              <a:t>Problem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Statement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ID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–</a:t>
            </a:r>
            <a:r>
              <a:rPr dirty="0" sz="2000" spc="-10">
                <a:latin typeface="Arial MT"/>
                <a:cs typeface="Arial MT"/>
              </a:rPr>
              <a:t>SIH26049</a:t>
            </a:r>
            <a:endParaRPr sz="2000">
              <a:latin typeface="Arial MT"/>
              <a:cs typeface="Arial MT"/>
            </a:endParaRPr>
          </a:p>
          <a:p>
            <a:pPr marL="298450" marR="845185" indent="-286385">
              <a:lnSpc>
                <a:spcPct val="2003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latin typeface="Arial"/>
                <a:cs typeface="Arial"/>
              </a:rPr>
              <a:t>Problem Statement</a:t>
            </a:r>
            <a:r>
              <a:rPr dirty="0" sz="2000" spc="1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Title-</a:t>
            </a:r>
            <a:r>
              <a:rPr dirty="0" sz="2000">
                <a:latin typeface="Arial MT"/>
                <a:cs typeface="Arial MT"/>
              </a:rPr>
              <a:t>Modification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electrical</a:t>
            </a:r>
            <a:r>
              <a:rPr dirty="0" sz="2000" spc="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10">
                <a:latin typeface="Arial MT"/>
                <a:cs typeface="Arial MT"/>
              </a:rPr>
              <a:t> electronic equiment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spc="-10" b="1">
                <a:latin typeface="Arial"/>
                <a:cs typeface="Arial"/>
              </a:rPr>
              <a:t>Theme-</a:t>
            </a:r>
            <a:r>
              <a:rPr dirty="0" sz="2000">
                <a:latin typeface="Arial MT"/>
                <a:cs typeface="Arial MT"/>
              </a:rPr>
              <a:t>Smart</a:t>
            </a:r>
            <a:r>
              <a:rPr dirty="0" sz="2000" spc="-1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Automation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latin typeface="Arial"/>
                <a:cs typeface="Arial"/>
              </a:rPr>
              <a:t>PS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Category-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spc="-10">
                <a:latin typeface="Arial MT"/>
                <a:cs typeface="Arial MT"/>
              </a:rPr>
              <a:t>Hardware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spc="-20" b="1">
                <a:latin typeface="Arial"/>
                <a:cs typeface="Arial"/>
              </a:rPr>
              <a:t>Team</a:t>
            </a:r>
            <a:r>
              <a:rPr dirty="0" sz="2000" spc="-105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ID-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spc="-20" b="1">
                <a:latin typeface="Arial"/>
                <a:cs typeface="Arial"/>
              </a:rPr>
              <a:t>Team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Name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-</a:t>
            </a:r>
            <a:r>
              <a:rPr dirty="0" sz="2000" spc="-10">
                <a:latin typeface="Arial MT"/>
                <a:cs typeface="Arial MT"/>
              </a:rPr>
              <a:t>HackNova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2200" y="0"/>
            <a:ext cx="22098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7414" rIns="0" bIns="0" rtlCol="0" vert="horz">
            <a:spAutoFit/>
          </a:bodyPr>
          <a:lstStyle/>
          <a:p>
            <a:pPr marL="235013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IDEA</a:t>
            </a:r>
            <a:r>
              <a:rPr dirty="0" spc="-220"/>
              <a:t> </a:t>
            </a:r>
            <a:r>
              <a:rPr dirty="0" spc="-1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4763" y="0"/>
            <a:ext cx="1247775" cy="805180"/>
          </a:xfrm>
          <a:custGeom>
            <a:avLst/>
            <a:gdLst/>
            <a:ahLst/>
            <a:cxnLst/>
            <a:rect l="l" t="t" r="r" b="b"/>
            <a:pathLst>
              <a:path w="1247775" h="805180">
                <a:moveTo>
                  <a:pt x="716710" y="0"/>
                </a:moveTo>
                <a:lnTo>
                  <a:pt x="789741" y="9642"/>
                </a:lnTo>
                <a:lnTo>
                  <a:pt x="841581" y="20514"/>
                </a:lnTo>
                <a:lnTo>
                  <a:pt x="891333" y="34171"/>
                </a:lnTo>
                <a:lnTo>
                  <a:pt x="938775" y="50470"/>
                </a:lnTo>
                <a:lnTo>
                  <a:pt x="983687" y="69269"/>
                </a:lnTo>
                <a:lnTo>
                  <a:pt x="1025849" y="90424"/>
                </a:lnTo>
                <a:lnTo>
                  <a:pt x="1065042" y="113792"/>
                </a:lnTo>
                <a:lnTo>
                  <a:pt x="1101044" y="139229"/>
                </a:lnTo>
                <a:lnTo>
                  <a:pt x="1133635" y="166592"/>
                </a:lnTo>
                <a:lnTo>
                  <a:pt x="1162595" y="195739"/>
                </a:lnTo>
                <a:lnTo>
                  <a:pt x="1187704" y="226526"/>
                </a:lnTo>
                <a:lnTo>
                  <a:pt x="1208742" y="258810"/>
                </a:lnTo>
                <a:lnTo>
                  <a:pt x="1237722" y="327295"/>
                </a:lnTo>
                <a:lnTo>
                  <a:pt x="1247774" y="400050"/>
                </a:lnTo>
                <a:lnTo>
                  <a:pt x="1245224" y="436889"/>
                </a:lnTo>
                <a:lnTo>
                  <a:pt x="1225488" y="507651"/>
                </a:lnTo>
                <a:lnTo>
                  <a:pt x="1187704" y="573573"/>
                </a:lnTo>
                <a:lnTo>
                  <a:pt x="1162595" y="604360"/>
                </a:lnTo>
                <a:lnTo>
                  <a:pt x="1133635" y="633507"/>
                </a:lnTo>
                <a:lnTo>
                  <a:pt x="1101044" y="660870"/>
                </a:lnTo>
                <a:lnTo>
                  <a:pt x="1065042" y="686307"/>
                </a:lnTo>
                <a:lnTo>
                  <a:pt x="1025849" y="709675"/>
                </a:lnTo>
                <a:lnTo>
                  <a:pt x="983687" y="730830"/>
                </a:lnTo>
                <a:lnTo>
                  <a:pt x="938775" y="749629"/>
                </a:lnTo>
                <a:lnTo>
                  <a:pt x="891333" y="765928"/>
                </a:lnTo>
                <a:lnTo>
                  <a:pt x="841581" y="779585"/>
                </a:lnTo>
                <a:lnTo>
                  <a:pt x="789741" y="790457"/>
                </a:lnTo>
                <a:lnTo>
                  <a:pt x="736031" y="798400"/>
                </a:lnTo>
                <a:lnTo>
                  <a:pt x="680673" y="803270"/>
                </a:lnTo>
                <a:lnTo>
                  <a:pt x="623886" y="804926"/>
                </a:lnTo>
                <a:lnTo>
                  <a:pt x="567100" y="803270"/>
                </a:lnTo>
                <a:lnTo>
                  <a:pt x="511742" y="798400"/>
                </a:lnTo>
                <a:lnTo>
                  <a:pt x="458032" y="790457"/>
                </a:lnTo>
                <a:lnTo>
                  <a:pt x="406192" y="779585"/>
                </a:lnTo>
                <a:lnTo>
                  <a:pt x="356441" y="765928"/>
                </a:lnTo>
                <a:lnTo>
                  <a:pt x="308999" y="749629"/>
                </a:lnTo>
                <a:lnTo>
                  <a:pt x="264086" y="730830"/>
                </a:lnTo>
                <a:lnTo>
                  <a:pt x="221924" y="709675"/>
                </a:lnTo>
                <a:lnTo>
                  <a:pt x="182732" y="686308"/>
                </a:lnTo>
                <a:lnTo>
                  <a:pt x="146730" y="660870"/>
                </a:lnTo>
                <a:lnTo>
                  <a:pt x="114139" y="633507"/>
                </a:lnTo>
                <a:lnTo>
                  <a:pt x="85178" y="604360"/>
                </a:lnTo>
                <a:lnTo>
                  <a:pt x="60069" y="573573"/>
                </a:lnTo>
                <a:lnTo>
                  <a:pt x="39031" y="541289"/>
                </a:lnTo>
                <a:lnTo>
                  <a:pt x="10051" y="472804"/>
                </a:lnTo>
                <a:lnTo>
                  <a:pt x="0" y="400050"/>
                </a:lnTo>
                <a:lnTo>
                  <a:pt x="2549" y="363210"/>
                </a:lnTo>
                <a:lnTo>
                  <a:pt x="22285" y="292448"/>
                </a:lnTo>
                <a:lnTo>
                  <a:pt x="60069" y="226526"/>
                </a:lnTo>
                <a:lnTo>
                  <a:pt x="85178" y="195739"/>
                </a:lnTo>
                <a:lnTo>
                  <a:pt x="114139" y="166592"/>
                </a:lnTo>
                <a:lnTo>
                  <a:pt x="146730" y="139229"/>
                </a:lnTo>
                <a:lnTo>
                  <a:pt x="182732" y="113791"/>
                </a:lnTo>
                <a:lnTo>
                  <a:pt x="221924" y="90424"/>
                </a:lnTo>
                <a:lnTo>
                  <a:pt x="264086" y="69269"/>
                </a:lnTo>
                <a:lnTo>
                  <a:pt x="308999" y="50470"/>
                </a:lnTo>
                <a:lnTo>
                  <a:pt x="356441" y="34171"/>
                </a:lnTo>
                <a:lnTo>
                  <a:pt x="406192" y="20514"/>
                </a:lnTo>
                <a:lnTo>
                  <a:pt x="458032" y="9642"/>
                </a:lnTo>
                <a:lnTo>
                  <a:pt x="511742" y="1699"/>
                </a:lnTo>
                <a:lnTo>
                  <a:pt x="531063" y="0"/>
                </a:lnTo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74332" y="91122"/>
            <a:ext cx="506730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12065">
              <a:lnSpc>
                <a:spcPct val="100800"/>
              </a:lnSpc>
              <a:spcBef>
                <a:spcPts val="85"/>
              </a:spcBef>
            </a:pPr>
            <a:r>
              <a:rPr dirty="0" sz="1800" spc="-20">
                <a:latin typeface="Calibri"/>
                <a:cs typeface="Calibri"/>
              </a:rPr>
              <a:t>Hack Nova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2200" y="0"/>
            <a:ext cx="2209800" cy="11334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2412" y="920749"/>
            <a:ext cx="7426325" cy="5591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dirty="0" sz="2400" b="1">
                <a:latin typeface="Calibri"/>
                <a:cs typeface="Calibri"/>
              </a:rPr>
              <a:t>Sense</a:t>
            </a:r>
            <a:r>
              <a:rPr dirty="0" sz="2400" spc="-1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→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Analyze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→</a:t>
            </a:r>
            <a:r>
              <a:rPr dirty="0" sz="2400" spc="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Decide</a:t>
            </a:r>
            <a:r>
              <a:rPr dirty="0" sz="2400" spc="-1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→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Act</a:t>
            </a:r>
            <a:r>
              <a:rPr dirty="0" sz="2400" spc="-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→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Protect</a:t>
            </a:r>
            <a:r>
              <a:rPr dirty="0" sz="2400" spc="-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→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Predict</a:t>
            </a:r>
            <a:endParaRPr sz="2400">
              <a:latin typeface="Calibri"/>
              <a:cs typeface="Calibri"/>
            </a:endParaRPr>
          </a:p>
          <a:p>
            <a:pPr marL="298450" marR="1679575" indent="-286385">
              <a:lnSpc>
                <a:spcPct val="100000"/>
              </a:lnSpc>
              <a:spcBef>
                <a:spcPts val="248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latin typeface="Calibri"/>
                <a:cs typeface="Calibri"/>
              </a:rPr>
              <a:t>Modular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retrofit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Smart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Automation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Unit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existing electrical/electronic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equipment.</a:t>
            </a:r>
            <a:endParaRPr sz="2000">
              <a:latin typeface="Calibri"/>
              <a:cs typeface="Calibri"/>
            </a:endParaRPr>
          </a:p>
          <a:p>
            <a:pPr marL="298450" marR="64071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spc="-20" b="1">
                <a:latin typeface="Calibri"/>
                <a:cs typeface="Calibri"/>
              </a:rPr>
              <a:t>Real-</a:t>
            </a:r>
            <a:r>
              <a:rPr dirty="0" sz="2000" b="1">
                <a:latin typeface="Calibri"/>
                <a:cs typeface="Calibri"/>
              </a:rPr>
              <a:t>time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sensing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temperature,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pressure,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humidity,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voltage, </a:t>
            </a:r>
            <a:r>
              <a:rPr dirty="0" sz="2000">
                <a:latin typeface="Calibri"/>
                <a:cs typeface="Calibri"/>
              </a:rPr>
              <a:t>current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vibration.</a:t>
            </a:r>
            <a:endParaRPr sz="2000">
              <a:latin typeface="Calibri"/>
              <a:cs typeface="Calibri"/>
            </a:endParaRPr>
          </a:p>
          <a:p>
            <a:pPr marL="298450" marR="5080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spc="-10" b="1">
                <a:latin typeface="Calibri"/>
                <a:cs typeface="Calibri"/>
              </a:rPr>
              <a:t>Intelligent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controller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(ESP32/STM32)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analyzes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conditions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selects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appropriate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operating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mode.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latin typeface="Calibri"/>
                <a:cs typeface="Calibri"/>
              </a:rPr>
              <a:t>Automatic</a:t>
            </a:r>
            <a:r>
              <a:rPr dirty="0" sz="2000" spc="-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thermal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control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heaters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cooling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fans.</a:t>
            </a:r>
            <a:endParaRPr sz="2000">
              <a:latin typeface="Calibri"/>
              <a:cs typeface="Calibri"/>
            </a:endParaRPr>
          </a:p>
          <a:p>
            <a:pPr marL="298450" marR="1920239" indent="-286385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latin typeface="Calibri"/>
                <a:cs typeface="Calibri"/>
              </a:rPr>
              <a:t>Smart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battery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protection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temperature-</a:t>
            </a:r>
            <a:r>
              <a:rPr dirty="0" sz="2000" spc="-10">
                <a:latin typeface="Calibri"/>
                <a:cs typeface="Calibri"/>
              </a:rPr>
              <a:t>based charging/discharging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control.</a:t>
            </a:r>
            <a:endParaRPr sz="2000">
              <a:latin typeface="Calibri"/>
              <a:cs typeface="Calibri"/>
            </a:endParaRPr>
          </a:p>
          <a:p>
            <a:pPr marL="298450" marR="468630" indent="-28638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latin typeface="Calibri"/>
                <a:cs typeface="Calibri"/>
              </a:rPr>
              <a:t>Automatic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fault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detection</a:t>
            </a:r>
            <a:r>
              <a:rPr dirty="0" sz="2000" spc="-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protection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prevent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equipment damage.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logging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trend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analysis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early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fault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prediction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dirty="0" sz="2000" spc="-10">
                <a:latin typeface="Calibri"/>
                <a:cs typeface="Calibri"/>
              </a:rPr>
              <a:t>predictive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maintenance.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spc="-10" b="1">
                <a:latin typeface="Calibri"/>
                <a:cs typeface="Calibri"/>
              </a:rPr>
              <a:t>Remote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equipment-</a:t>
            </a:r>
            <a:r>
              <a:rPr dirty="0" sz="2000" b="1">
                <a:latin typeface="Calibri"/>
                <a:cs typeface="Calibri"/>
              </a:rPr>
              <a:t>health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monitoring </a:t>
            </a:r>
            <a:r>
              <a:rPr dirty="0" sz="2000">
                <a:latin typeface="Calibri"/>
                <a:cs typeface="Calibri"/>
              </a:rPr>
              <a:t>through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dashboard.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spc="-10" b="1">
                <a:latin typeface="Calibri"/>
                <a:cs typeface="Calibri"/>
              </a:rPr>
              <a:t>Adaptive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operation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Normal,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Cold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High-</a:t>
            </a:r>
            <a:r>
              <a:rPr dirty="0" sz="2000">
                <a:latin typeface="Calibri"/>
                <a:cs typeface="Calibri"/>
              </a:rPr>
              <a:t>Altitude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Extreme</a:t>
            </a:r>
            <a:endParaRPr sz="2000">
              <a:latin typeface="Calibri"/>
              <a:cs typeface="Calibri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dirty="0" sz="2000" spc="-10">
                <a:latin typeface="Calibri"/>
                <a:cs typeface="Calibri"/>
              </a:rPr>
              <a:t>conditions.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67750" y="1828800"/>
            <a:ext cx="184785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426" rIns="0" bIns="0" rtlCol="0" vert="horz">
            <a:spAutoFit/>
          </a:bodyPr>
          <a:lstStyle/>
          <a:p>
            <a:pPr marL="191643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TECHNICAL</a:t>
            </a:r>
            <a:r>
              <a:rPr dirty="0" spc="-420"/>
              <a:t> </a:t>
            </a:r>
            <a:r>
              <a:rPr dirty="0" spc="-1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1779" y="1097216"/>
            <a:ext cx="11691620" cy="87820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354330" marR="5080" indent="-341630">
              <a:lnSpc>
                <a:spcPct val="102499"/>
              </a:lnSpc>
              <a:spcBef>
                <a:spcPts val="4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750">
                <a:latin typeface="Calibri"/>
                <a:cs typeface="Calibri"/>
              </a:rPr>
              <a:t>Sensors</a:t>
            </a:r>
            <a:r>
              <a:rPr dirty="0" sz="2750" spc="150">
                <a:latin typeface="Calibri"/>
                <a:cs typeface="Calibri"/>
              </a:rPr>
              <a:t>  </a:t>
            </a:r>
            <a:r>
              <a:rPr dirty="0" sz="2750">
                <a:latin typeface="Calibri"/>
                <a:cs typeface="Calibri"/>
              </a:rPr>
              <a:t>→</a:t>
            </a:r>
            <a:r>
              <a:rPr dirty="0" sz="2750" spc="155">
                <a:latin typeface="Calibri"/>
                <a:cs typeface="Calibri"/>
              </a:rPr>
              <a:t>  </a:t>
            </a:r>
            <a:r>
              <a:rPr dirty="0" sz="2750">
                <a:latin typeface="Calibri"/>
                <a:cs typeface="Calibri"/>
              </a:rPr>
              <a:t>ESP32/STM32</a:t>
            </a:r>
            <a:r>
              <a:rPr dirty="0" sz="2750" spc="155">
                <a:latin typeface="Calibri"/>
                <a:cs typeface="Calibri"/>
              </a:rPr>
              <a:t>  </a:t>
            </a:r>
            <a:r>
              <a:rPr dirty="0" sz="2750">
                <a:latin typeface="Calibri"/>
                <a:cs typeface="Calibri"/>
              </a:rPr>
              <a:t>→</a:t>
            </a:r>
            <a:r>
              <a:rPr dirty="0" sz="2750" spc="160">
                <a:latin typeface="Calibri"/>
                <a:cs typeface="Calibri"/>
              </a:rPr>
              <a:t>  </a:t>
            </a:r>
            <a:r>
              <a:rPr dirty="0" sz="2750">
                <a:latin typeface="Calibri"/>
                <a:cs typeface="Calibri"/>
              </a:rPr>
              <a:t>Decision</a:t>
            </a:r>
            <a:r>
              <a:rPr dirty="0" sz="2750" spc="145">
                <a:latin typeface="Calibri"/>
                <a:cs typeface="Calibri"/>
              </a:rPr>
              <a:t>  </a:t>
            </a:r>
            <a:r>
              <a:rPr dirty="0" sz="2750">
                <a:latin typeface="Calibri"/>
                <a:cs typeface="Calibri"/>
              </a:rPr>
              <a:t>Algorithm</a:t>
            </a:r>
            <a:r>
              <a:rPr dirty="0" sz="2750" spc="150">
                <a:latin typeface="Calibri"/>
                <a:cs typeface="Calibri"/>
              </a:rPr>
              <a:t>  </a:t>
            </a:r>
            <a:r>
              <a:rPr dirty="0" sz="2750">
                <a:latin typeface="Calibri"/>
                <a:cs typeface="Calibri"/>
              </a:rPr>
              <a:t>→</a:t>
            </a:r>
            <a:r>
              <a:rPr dirty="0" sz="2750" spc="155">
                <a:latin typeface="Calibri"/>
                <a:cs typeface="Calibri"/>
              </a:rPr>
              <a:t>  </a:t>
            </a:r>
            <a:r>
              <a:rPr dirty="0" sz="2750">
                <a:latin typeface="Calibri"/>
                <a:cs typeface="Calibri"/>
              </a:rPr>
              <a:t>Automatic</a:t>
            </a:r>
            <a:r>
              <a:rPr dirty="0" sz="2750" spc="170">
                <a:latin typeface="Calibri"/>
                <a:cs typeface="Calibri"/>
              </a:rPr>
              <a:t>  </a:t>
            </a:r>
            <a:r>
              <a:rPr dirty="0" sz="2750">
                <a:latin typeface="Calibri"/>
                <a:cs typeface="Calibri"/>
              </a:rPr>
              <a:t>Control</a:t>
            </a:r>
            <a:r>
              <a:rPr dirty="0" sz="2750" spc="160">
                <a:latin typeface="Calibri"/>
                <a:cs typeface="Calibri"/>
              </a:rPr>
              <a:t>  </a:t>
            </a:r>
            <a:r>
              <a:rPr dirty="0" sz="2750" spc="-50">
                <a:latin typeface="Calibri"/>
                <a:cs typeface="Calibri"/>
              </a:rPr>
              <a:t>→ </a:t>
            </a:r>
            <a:r>
              <a:rPr dirty="0" sz="2750" spc="-50">
                <a:latin typeface="Calibri"/>
                <a:cs typeface="Calibri"/>
              </a:rPr>
              <a:t>	</a:t>
            </a:r>
            <a:r>
              <a:rPr dirty="0" sz="2750">
                <a:latin typeface="Calibri"/>
                <a:cs typeface="Calibri"/>
              </a:rPr>
              <a:t>Equipment</a:t>
            </a:r>
            <a:r>
              <a:rPr dirty="0" sz="2750" spc="5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Protection</a:t>
            </a:r>
            <a:r>
              <a:rPr dirty="0" sz="2750" spc="7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→</a:t>
            </a:r>
            <a:r>
              <a:rPr dirty="0" sz="2750" spc="9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Data</a:t>
            </a:r>
            <a:r>
              <a:rPr dirty="0" sz="2750" spc="4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Logging</a:t>
            </a:r>
            <a:r>
              <a:rPr dirty="0" sz="2750" spc="6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&amp;</a:t>
            </a:r>
            <a:r>
              <a:rPr dirty="0" sz="2750" spc="95">
                <a:latin typeface="Calibri"/>
                <a:cs typeface="Calibri"/>
              </a:rPr>
              <a:t> </a:t>
            </a:r>
            <a:r>
              <a:rPr dirty="0" sz="2750" spc="-10">
                <a:latin typeface="Calibri"/>
                <a:cs typeface="Calibri"/>
              </a:rPr>
              <a:t>Monitoring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63" y="0"/>
            <a:ext cx="1247775" cy="805180"/>
          </a:xfrm>
          <a:custGeom>
            <a:avLst/>
            <a:gdLst/>
            <a:ahLst/>
            <a:cxnLst/>
            <a:rect l="l" t="t" r="r" b="b"/>
            <a:pathLst>
              <a:path w="1247775" h="805180">
                <a:moveTo>
                  <a:pt x="716710" y="0"/>
                </a:moveTo>
                <a:lnTo>
                  <a:pt x="789741" y="9642"/>
                </a:lnTo>
                <a:lnTo>
                  <a:pt x="841581" y="20514"/>
                </a:lnTo>
                <a:lnTo>
                  <a:pt x="891333" y="34171"/>
                </a:lnTo>
                <a:lnTo>
                  <a:pt x="938775" y="50470"/>
                </a:lnTo>
                <a:lnTo>
                  <a:pt x="983687" y="69269"/>
                </a:lnTo>
                <a:lnTo>
                  <a:pt x="1025849" y="90424"/>
                </a:lnTo>
                <a:lnTo>
                  <a:pt x="1065042" y="113792"/>
                </a:lnTo>
                <a:lnTo>
                  <a:pt x="1101044" y="139229"/>
                </a:lnTo>
                <a:lnTo>
                  <a:pt x="1133635" y="166592"/>
                </a:lnTo>
                <a:lnTo>
                  <a:pt x="1162595" y="195739"/>
                </a:lnTo>
                <a:lnTo>
                  <a:pt x="1187704" y="226526"/>
                </a:lnTo>
                <a:lnTo>
                  <a:pt x="1208742" y="258810"/>
                </a:lnTo>
                <a:lnTo>
                  <a:pt x="1237722" y="327295"/>
                </a:lnTo>
                <a:lnTo>
                  <a:pt x="1247774" y="400050"/>
                </a:lnTo>
                <a:lnTo>
                  <a:pt x="1245224" y="436889"/>
                </a:lnTo>
                <a:lnTo>
                  <a:pt x="1225488" y="507651"/>
                </a:lnTo>
                <a:lnTo>
                  <a:pt x="1187704" y="573573"/>
                </a:lnTo>
                <a:lnTo>
                  <a:pt x="1162595" y="604360"/>
                </a:lnTo>
                <a:lnTo>
                  <a:pt x="1133635" y="633507"/>
                </a:lnTo>
                <a:lnTo>
                  <a:pt x="1101044" y="660870"/>
                </a:lnTo>
                <a:lnTo>
                  <a:pt x="1065042" y="686307"/>
                </a:lnTo>
                <a:lnTo>
                  <a:pt x="1025849" y="709675"/>
                </a:lnTo>
                <a:lnTo>
                  <a:pt x="983687" y="730830"/>
                </a:lnTo>
                <a:lnTo>
                  <a:pt x="938775" y="749629"/>
                </a:lnTo>
                <a:lnTo>
                  <a:pt x="891333" y="765928"/>
                </a:lnTo>
                <a:lnTo>
                  <a:pt x="841581" y="779585"/>
                </a:lnTo>
                <a:lnTo>
                  <a:pt x="789741" y="790457"/>
                </a:lnTo>
                <a:lnTo>
                  <a:pt x="736031" y="798400"/>
                </a:lnTo>
                <a:lnTo>
                  <a:pt x="680673" y="803270"/>
                </a:lnTo>
                <a:lnTo>
                  <a:pt x="623886" y="804926"/>
                </a:lnTo>
                <a:lnTo>
                  <a:pt x="567100" y="803270"/>
                </a:lnTo>
                <a:lnTo>
                  <a:pt x="511742" y="798400"/>
                </a:lnTo>
                <a:lnTo>
                  <a:pt x="458032" y="790457"/>
                </a:lnTo>
                <a:lnTo>
                  <a:pt x="406192" y="779585"/>
                </a:lnTo>
                <a:lnTo>
                  <a:pt x="356441" y="765928"/>
                </a:lnTo>
                <a:lnTo>
                  <a:pt x="308999" y="749629"/>
                </a:lnTo>
                <a:lnTo>
                  <a:pt x="264086" y="730830"/>
                </a:lnTo>
                <a:lnTo>
                  <a:pt x="221924" y="709675"/>
                </a:lnTo>
                <a:lnTo>
                  <a:pt x="182732" y="686308"/>
                </a:lnTo>
                <a:lnTo>
                  <a:pt x="146730" y="660870"/>
                </a:lnTo>
                <a:lnTo>
                  <a:pt x="114139" y="633507"/>
                </a:lnTo>
                <a:lnTo>
                  <a:pt x="85178" y="604360"/>
                </a:lnTo>
                <a:lnTo>
                  <a:pt x="60069" y="573573"/>
                </a:lnTo>
                <a:lnTo>
                  <a:pt x="39031" y="541289"/>
                </a:lnTo>
                <a:lnTo>
                  <a:pt x="10051" y="472804"/>
                </a:lnTo>
                <a:lnTo>
                  <a:pt x="0" y="400050"/>
                </a:lnTo>
                <a:lnTo>
                  <a:pt x="2549" y="363210"/>
                </a:lnTo>
                <a:lnTo>
                  <a:pt x="22285" y="292448"/>
                </a:lnTo>
                <a:lnTo>
                  <a:pt x="60069" y="226526"/>
                </a:lnTo>
                <a:lnTo>
                  <a:pt x="85178" y="195739"/>
                </a:lnTo>
                <a:lnTo>
                  <a:pt x="114139" y="166592"/>
                </a:lnTo>
                <a:lnTo>
                  <a:pt x="146730" y="139229"/>
                </a:lnTo>
                <a:lnTo>
                  <a:pt x="182732" y="113791"/>
                </a:lnTo>
                <a:lnTo>
                  <a:pt x="221924" y="90424"/>
                </a:lnTo>
                <a:lnTo>
                  <a:pt x="264086" y="69269"/>
                </a:lnTo>
                <a:lnTo>
                  <a:pt x="308999" y="50470"/>
                </a:lnTo>
                <a:lnTo>
                  <a:pt x="356441" y="34171"/>
                </a:lnTo>
                <a:lnTo>
                  <a:pt x="406192" y="20514"/>
                </a:lnTo>
                <a:lnTo>
                  <a:pt x="458032" y="9642"/>
                </a:lnTo>
                <a:lnTo>
                  <a:pt x="511742" y="1699"/>
                </a:lnTo>
                <a:lnTo>
                  <a:pt x="531063" y="0"/>
                </a:lnTo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4332" y="91122"/>
            <a:ext cx="506730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12065">
              <a:lnSpc>
                <a:spcPct val="100800"/>
              </a:lnSpc>
              <a:spcBef>
                <a:spcPts val="85"/>
              </a:spcBef>
            </a:pPr>
            <a:r>
              <a:rPr dirty="0" sz="1800" spc="-20">
                <a:latin typeface="Calibri"/>
                <a:cs typeface="Calibri"/>
              </a:rPr>
              <a:t>Hack Nova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2200" y="0"/>
            <a:ext cx="2209800" cy="107632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0962" y="2215261"/>
            <a:ext cx="2714625" cy="18611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b="1">
                <a:latin typeface="Calibri"/>
                <a:cs typeface="Calibri"/>
              </a:rPr>
              <a:t>Smart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Battery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Protection:</a:t>
            </a:r>
            <a:endParaRPr sz="20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000">
                <a:latin typeface="Calibri"/>
                <a:cs typeface="Calibri"/>
              </a:rPr>
              <a:t>Battery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temperature</a:t>
            </a:r>
            <a:endParaRPr sz="20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dirty="0" sz="2000" spc="-10">
                <a:latin typeface="Calibri"/>
                <a:cs typeface="Calibri"/>
              </a:rPr>
              <a:t>Voltage</a:t>
            </a:r>
            <a:endParaRPr sz="20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000" spc="-10">
                <a:latin typeface="Calibri"/>
                <a:cs typeface="Calibri"/>
              </a:rPr>
              <a:t>Current</a:t>
            </a:r>
            <a:endParaRPr sz="2000">
              <a:latin typeface="Calibri"/>
              <a:cs typeface="Calibri"/>
            </a:endParaRPr>
          </a:p>
          <a:p>
            <a:pPr marL="298450" marR="216535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spc="-10">
                <a:latin typeface="Calibri"/>
                <a:cs typeface="Calibri"/>
              </a:rPr>
              <a:t>Charging/discharging condition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7895" y="2221928"/>
            <a:ext cx="3294379" cy="17119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2390"/>
              </a:lnSpc>
              <a:spcBef>
                <a:spcPts val="125"/>
              </a:spcBef>
            </a:pPr>
            <a:r>
              <a:rPr dirty="0" sz="2000" b="1">
                <a:latin typeface="Calibri"/>
                <a:cs typeface="Calibri"/>
              </a:rPr>
              <a:t>Sensors</a:t>
            </a:r>
            <a:r>
              <a:rPr dirty="0" sz="2000" spc="-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continuously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measure</a:t>
            </a:r>
            <a:r>
              <a:rPr dirty="0" sz="2000" spc="-1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ts val="215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800" spc="-10">
                <a:latin typeface="Calibri"/>
                <a:cs typeface="Calibri"/>
              </a:rPr>
              <a:t>Temperature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10">
                <a:latin typeface="Calibri"/>
                <a:cs typeface="Calibri"/>
              </a:rPr>
              <a:t>Atmospheric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pressure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10">
                <a:latin typeface="Calibri"/>
                <a:cs typeface="Calibri"/>
              </a:rPr>
              <a:t>Humidity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10">
                <a:latin typeface="Calibri"/>
                <a:cs typeface="Calibri"/>
              </a:rPr>
              <a:t>Voltage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&amp;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current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10">
                <a:latin typeface="Calibri"/>
                <a:cs typeface="Calibri"/>
              </a:rPr>
              <a:t>Vibration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64376" y="2269172"/>
            <a:ext cx="5288915" cy="167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Embedded</a:t>
            </a:r>
            <a:r>
              <a:rPr dirty="0" sz="1800" spc="-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Control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&amp;</a:t>
            </a:r>
            <a:r>
              <a:rPr dirty="0" sz="1800" spc="-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Decision</a:t>
            </a:r>
            <a:r>
              <a:rPr dirty="0" sz="1800" spc="-10" b="1">
                <a:latin typeface="Calibri"/>
                <a:cs typeface="Calibri"/>
              </a:rPr>
              <a:t> Making:</a:t>
            </a:r>
            <a:endParaRPr sz="1800">
              <a:latin typeface="Calibri"/>
              <a:cs typeface="Calibri"/>
            </a:endParaRPr>
          </a:p>
          <a:p>
            <a:pPr marL="298450" marR="103505" indent="-285750">
              <a:lnSpc>
                <a:spcPct val="1008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ESP32/STM32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microcontroller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receives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sensor values.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1800">
                <a:latin typeface="Calibri"/>
                <a:cs typeface="Calibri"/>
              </a:rPr>
              <a:t>It </a:t>
            </a:r>
            <a:r>
              <a:rPr dirty="0" sz="1800" spc="-10">
                <a:latin typeface="Calibri"/>
                <a:cs typeface="Calibri"/>
              </a:rPr>
              <a:t>compares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values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predefined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safe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limits.</a:t>
            </a:r>
            <a:endParaRPr sz="1800">
              <a:latin typeface="Calibri"/>
              <a:cs typeface="Calibri"/>
            </a:endParaRPr>
          </a:p>
          <a:p>
            <a:pPr marL="298450" marR="5080" indent="-285750">
              <a:lnSpc>
                <a:spcPts val="2100"/>
              </a:lnSpc>
              <a:spcBef>
                <a:spcPts val="14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>
                <a:latin typeface="Calibri"/>
                <a:cs typeface="Calibri"/>
              </a:rPr>
              <a:t>Based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condition,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automatically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decides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what </a:t>
            </a:r>
            <a:r>
              <a:rPr dirty="0" sz="1800">
                <a:latin typeface="Calibri"/>
                <a:cs typeface="Calibri"/>
              </a:rPr>
              <a:t>action is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required.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4690" y="4430077"/>
            <a:ext cx="4356735" cy="195072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64769" marR="1643380" indent="-52705">
              <a:lnSpc>
                <a:spcPct val="104299"/>
              </a:lnSpc>
              <a:spcBef>
                <a:spcPts val="10"/>
              </a:spcBef>
            </a:pPr>
            <a:r>
              <a:rPr dirty="0" sz="1800" b="1">
                <a:latin typeface="Calibri"/>
                <a:cs typeface="Calibri"/>
              </a:rPr>
              <a:t>Fault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Detection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&amp;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Protection </a:t>
            </a:r>
            <a:r>
              <a:rPr dirty="0" sz="1800" spc="-25" b="1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  <a:spcBef>
                <a:spcPts val="20"/>
              </a:spcBef>
            </a:pP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example: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ts val="2130"/>
              </a:lnSpc>
              <a:buFont typeface="Arial MT"/>
              <a:buChar char="•"/>
              <a:tabLst>
                <a:tab pos="297815" algn="l"/>
              </a:tabLst>
            </a:pPr>
            <a:r>
              <a:rPr dirty="0" sz="1800">
                <a:latin typeface="Calibri"/>
                <a:cs typeface="Calibri"/>
              </a:rPr>
              <a:t>Excessive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current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→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possible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electrical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fault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ts val="2130"/>
              </a:lnSpc>
              <a:spcBef>
                <a:spcPts val="1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1800">
                <a:latin typeface="Calibri"/>
                <a:cs typeface="Calibri"/>
              </a:rPr>
              <a:t>Rapid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temperature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rise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→</a:t>
            </a:r>
            <a:r>
              <a:rPr dirty="0" sz="1800" spc="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cooling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problem</a:t>
            </a:r>
            <a:endParaRPr sz="1800">
              <a:latin typeface="Calibri"/>
              <a:cs typeface="Calibri"/>
            </a:endParaRPr>
          </a:p>
          <a:p>
            <a:pPr marL="298450" marR="102235" indent="-285750">
              <a:lnSpc>
                <a:spcPts val="2180"/>
              </a:lnSpc>
              <a:spcBef>
                <a:spcPts val="3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>
                <a:latin typeface="Calibri"/>
                <a:cs typeface="Calibri"/>
              </a:rPr>
              <a:t>Abnormal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vibration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→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possible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equipment problem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758825">
              <a:lnSpc>
                <a:spcPct val="100000"/>
              </a:lnSpc>
              <a:spcBef>
                <a:spcPts val="105"/>
              </a:spcBef>
            </a:pPr>
            <a:r>
              <a:rPr dirty="0" sz="4800">
                <a:latin typeface="Calibri"/>
                <a:cs typeface="Calibri"/>
              </a:rPr>
              <a:t>FEASIBILITY</a:t>
            </a:r>
            <a:r>
              <a:rPr dirty="0" sz="4800" spc="-110">
                <a:latin typeface="Calibri"/>
                <a:cs typeface="Calibri"/>
              </a:rPr>
              <a:t> </a:t>
            </a:r>
            <a:r>
              <a:rPr dirty="0" sz="4800">
                <a:latin typeface="Calibri"/>
                <a:cs typeface="Calibri"/>
              </a:rPr>
              <a:t>AND</a:t>
            </a:r>
            <a:r>
              <a:rPr dirty="0" sz="4800" spc="-125">
                <a:latin typeface="Calibri"/>
                <a:cs typeface="Calibri"/>
              </a:rPr>
              <a:t> </a:t>
            </a:r>
            <a:r>
              <a:rPr dirty="0" sz="4800" spc="-10">
                <a:latin typeface="Calibri"/>
                <a:cs typeface="Calibri"/>
              </a:rPr>
              <a:t>VIABILITY</a:t>
            </a:r>
            <a:endParaRPr sz="4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39325" y="0"/>
            <a:ext cx="2352675" cy="1266825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4119" y="1880997"/>
          <a:ext cx="6313170" cy="4545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4420"/>
                <a:gridCol w="3891914"/>
              </a:tblGrid>
              <a:tr h="443230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2000" spc="-10" b="1">
                          <a:latin typeface="Calibri"/>
                          <a:cs typeface="Calibri"/>
                        </a:rPr>
                        <a:t>Challenge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2000" b="1">
                          <a:latin typeface="Calibri"/>
                          <a:cs typeface="Calibri"/>
                        </a:rPr>
                        <a:t>SHAAS</a:t>
                      </a:r>
                      <a:r>
                        <a:rPr dirty="0" sz="2000" spc="-10" b="1">
                          <a:latin typeface="Calibri"/>
                          <a:cs typeface="Calibri"/>
                        </a:rPr>
                        <a:t> Solution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748030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Extreme</a:t>
                      </a:r>
                      <a:r>
                        <a:rPr dirty="0" sz="2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subzero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463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temperature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T w="12700">
                      <a:solidFill>
                        <a:srgbClr val="4F81BC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Automatic</a:t>
                      </a:r>
                      <a:r>
                        <a:rPr dirty="0" sz="2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closed-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loop</a:t>
                      </a:r>
                      <a:r>
                        <a:rPr dirty="0" sz="20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heating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86690">
                    <a:lnT w="12700">
                      <a:solidFill>
                        <a:srgbClr val="4F81BC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  <a:tr h="748030">
                <a:tc>
                  <a:txBody>
                    <a:bodyPr/>
                    <a:lstStyle/>
                    <a:p>
                      <a:pPr marL="46355" marR="1428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2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performance 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drop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 marR="3181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20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dirty="0" sz="2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monitoring</a:t>
                      </a:r>
                      <a:r>
                        <a:rPr dirty="0" sz="20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50">
                          <a:latin typeface="Calibri"/>
                          <a:cs typeface="Calibri"/>
                        </a:rPr>
                        <a:t>+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controlled</a:t>
                      </a:r>
                      <a:r>
                        <a:rPr dirty="0" sz="20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charging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748030">
                <a:tc>
                  <a:txBody>
                    <a:bodyPr/>
                    <a:lstStyle/>
                    <a:p>
                      <a:pPr marL="46355" marR="52324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Low</a:t>
                      </a:r>
                      <a:r>
                        <a:rPr dirty="0" sz="20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atmospheric pressure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T w="12700">
                      <a:solidFill>
                        <a:srgbClr val="4F81BC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6515" marR="53721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Pressure</a:t>
                      </a:r>
                      <a:r>
                        <a:rPr dirty="0" sz="2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sensing</a:t>
                      </a:r>
                      <a:r>
                        <a:rPr dirty="0" sz="2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20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high-altitude operating</a:t>
                      </a:r>
                      <a:r>
                        <a:rPr dirty="0" sz="20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mode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T w="12700">
                      <a:solidFill>
                        <a:srgbClr val="4F81BC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  <a:tr h="748030">
                <a:tc>
                  <a:txBody>
                    <a:bodyPr/>
                    <a:lstStyle/>
                    <a:p>
                      <a:pPr marL="46355" marR="488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Condensation/moistu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re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 marR="3867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Humidity</a:t>
                      </a:r>
                      <a:r>
                        <a:rPr dirty="0" sz="20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monitoring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20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controlled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enclosure</a:t>
                      </a:r>
                      <a:r>
                        <a:rPr dirty="0" sz="20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heating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748030">
                <a:tc>
                  <a:txBody>
                    <a:bodyPr/>
                    <a:lstStyle/>
                    <a:p>
                      <a:pPr marL="46355" marR="7994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20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power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availability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T w="12700">
                      <a:solidFill>
                        <a:srgbClr val="4F81BC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Adaptive/PWM control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90500">
                    <a:lnT w="12700">
                      <a:solidFill>
                        <a:srgbClr val="4F81BC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Equipment</a:t>
                      </a:r>
                      <a:r>
                        <a:rPr dirty="0" sz="20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faults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8735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Detect</a:t>
                      </a:r>
                      <a:r>
                        <a:rPr dirty="0" sz="2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2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Alert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2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Protect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2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Log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8735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045325" y="5212397"/>
            <a:ext cx="4927600" cy="1555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758825" indent="233679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latin typeface="Calibri"/>
                <a:cs typeface="Calibri"/>
              </a:rPr>
              <a:t>readily</a:t>
            </a:r>
            <a:r>
              <a:rPr dirty="0" sz="2000" spc="-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available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technology</a:t>
            </a:r>
            <a:r>
              <a:rPr dirty="0" sz="2000" spc="50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Adaptive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closed-loop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energy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control </a:t>
            </a:r>
            <a:r>
              <a:rPr dirty="0" sz="2000" b="1">
                <a:latin typeface="Calibri"/>
                <a:cs typeface="Calibri"/>
              </a:rPr>
              <a:t>Modular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retrofit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+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scalable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architecture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</a:pPr>
            <a:r>
              <a:rPr dirty="0" sz="2000" b="1">
                <a:latin typeface="Calibri"/>
                <a:cs typeface="Calibri"/>
              </a:rPr>
              <a:t>Continuous</a:t>
            </a:r>
            <a:r>
              <a:rPr dirty="0" sz="2000" spc="-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monitoring</a:t>
            </a:r>
            <a:r>
              <a:rPr dirty="0" sz="2000" spc="-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+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automatic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protection </a:t>
            </a:r>
            <a:r>
              <a:rPr dirty="0" sz="2000" b="1">
                <a:latin typeface="Calibri"/>
                <a:cs typeface="Calibri"/>
              </a:rPr>
              <a:t>Longer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equipment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life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+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reduced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maintenance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298450" marR="5080" indent="-286385">
              <a:lnSpc>
                <a:spcPct val="100800"/>
              </a:lnSpc>
              <a:spcBef>
                <a:spcPts val="8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b="0">
                <a:latin typeface="Calibri"/>
                <a:cs typeface="Calibri"/>
              </a:rPr>
              <a:t>Uses</a:t>
            </a:r>
            <a:r>
              <a:rPr dirty="0" spc="-50" b="0">
                <a:latin typeface="Calibri"/>
                <a:cs typeface="Calibri"/>
              </a:rPr>
              <a:t> </a:t>
            </a:r>
            <a:r>
              <a:rPr dirty="0"/>
              <a:t>readily</a:t>
            </a:r>
            <a:r>
              <a:rPr dirty="0" spc="-95"/>
              <a:t> </a:t>
            </a:r>
            <a:r>
              <a:rPr dirty="0"/>
              <a:t>available</a:t>
            </a:r>
            <a:r>
              <a:rPr dirty="0" spc="-65"/>
              <a:t> </a:t>
            </a:r>
            <a:r>
              <a:rPr dirty="0"/>
              <a:t>sensors,</a:t>
            </a:r>
            <a:r>
              <a:rPr dirty="0" spc="-75"/>
              <a:t> </a:t>
            </a:r>
            <a:r>
              <a:rPr dirty="0"/>
              <a:t>ESP32/STM32</a:t>
            </a:r>
            <a:r>
              <a:rPr dirty="0" spc="-80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 spc="-10"/>
              <a:t>control components</a:t>
            </a:r>
          </a:p>
          <a:p>
            <a:pPr marL="298450" marR="259715" indent="-286385">
              <a:lnSpc>
                <a:spcPct val="1008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b="0">
                <a:latin typeface="Calibri"/>
                <a:cs typeface="Calibri"/>
              </a:rPr>
              <a:t>Modular</a:t>
            </a:r>
            <a:r>
              <a:rPr dirty="0" spc="-75" b="0">
                <a:latin typeface="Calibri"/>
                <a:cs typeface="Calibri"/>
              </a:rPr>
              <a:t> </a:t>
            </a:r>
            <a:r>
              <a:rPr dirty="0"/>
              <a:t>retrofit</a:t>
            </a:r>
            <a:r>
              <a:rPr dirty="0" spc="-35"/>
              <a:t> </a:t>
            </a:r>
            <a:r>
              <a:rPr dirty="0"/>
              <a:t>design</a:t>
            </a:r>
            <a:r>
              <a:rPr dirty="0" spc="-20"/>
              <a:t> </a:t>
            </a:r>
            <a:r>
              <a:rPr dirty="0" b="0">
                <a:latin typeface="Calibri"/>
                <a:cs typeface="Calibri"/>
              </a:rPr>
              <a:t>can</a:t>
            </a:r>
            <a:r>
              <a:rPr dirty="0" spc="1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be</a:t>
            </a:r>
            <a:r>
              <a:rPr dirty="0" spc="-1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integrated</a:t>
            </a:r>
            <a:r>
              <a:rPr dirty="0" spc="-5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with</a:t>
            </a:r>
            <a:r>
              <a:rPr dirty="0" spc="-5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existing equipment</a:t>
            </a:r>
          </a:p>
          <a:p>
            <a:pPr marL="298450" indent="-285750">
              <a:lnSpc>
                <a:spcPts val="2105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pc="-10" b="0">
                <a:latin typeface="Calibri"/>
                <a:cs typeface="Calibri"/>
              </a:rPr>
              <a:t>Real-</a:t>
            </a:r>
            <a:r>
              <a:rPr dirty="0" b="0">
                <a:latin typeface="Calibri"/>
                <a:cs typeface="Calibri"/>
              </a:rPr>
              <a:t>time</a:t>
            </a:r>
            <a:r>
              <a:rPr dirty="0" spc="-7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sensing</a:t>
            </a:r>
            <a:r>
              <a:rPr dirty="0" spc="-2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enables</a:t>
            </a:r>
            <a:r>
              <a:rPr dirty="0" spc="-2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automatic</a:t>
            </a:r>
            <a:r>
              <a:rPr dirty="0" spc="-2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protection</a:t>
            </a:r>
          </a:p>
          <a:p>
            <a:pPr marL="298450" marR="296545" indent="-286385">
              <a:lnSpc>
                <a:spcPct val="1008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pc="-10" b="0">
                <a:latin typeface="Calibri"/>
                <a:cs typeface="Calibri"/>
              </a:rPr>
              <a:t>Prototype</a:t>
            </a:r>
            <a:r>
              <a:rPr dirty="0" spc="-5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can</a:t>
            </a:r>
            <a:r>
              <a:rPr dirty="0" spc="-3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simulate </a:t>
            </a:r>
            <a:r>
              <a:rPr dirty="0" spc="-20"/>
              <a:t>subzero</a:t>
            </a:r>
            <a:r>
              <a:rPr dirty="0" spc="-50"/>
              <a:t> </a:t>
            </a:r>
            <a:r>
              <a:rPr dirty="0" spc="-10"/>
              <a:t>temperature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 spc="-20"/>
              <a:t>low-</a:t>
            </a:r>
            <a:r>
              <a:rPr dirty="0"/>
              <a:t>pressure</a:t>
            </a:r>
            <a:r>
              <a:rPr dirty="0" spc="-80"/>
              <a:t> </a:t>
            </a:r>
            <a:r>
              <a:rPr dirty="0" spc="-10"/>
              <a:t>conditions</a:t>
            </a:r>
          </a:p>
          <a:p>
            <a:pPr marL="298450" marR="15240" indent="-286385">
              <a:lnSpc>
                <a:spcPct val="1008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b="0">
                <a:latin typeface="Calibri"/>
                <a:cs typeface="Calibri"/>
              </a:rPr>
              <a:t>Can</a:t>
            </a:r>
            <a:r>
              <a:rPr dirty="0" spc="-1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be</a:t>
            </a:r>
            <a:r>
              <a:rPr dirty="0" spc="-3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upgraded to</a:t>
            </a:r>
            <a:r>
              <a:rPr dirty="0" spc="-7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industrial-</a:t>
            </a:r>
            <a:r>
              <a:rPr dirty="0" b="0">
                <a:latin typeface="Calibri"/>
                <a:cs typeface="Calibri"/>
              </a:rPr>
              <a:t>grade</a:t>
            </a:r>
            <a:r>
              <a:rPr dirty="0" spc="-3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components</a:t>
            </a:r>
            <a:r>
              <a:rPr dirty="0" spc="-5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for</a:t>
            </a:r>
            <a:r>
              <a:rPr dirty="0" spc="-5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field deployment</a:t>
            </a:r>
          </a:p>
        </p:txBody>
      </p:sp>
      <p:sp>
        <p:nvSpPr>
          <p:cNvPr id="7" name="object 7"/>
          <p:cNvSpPr/>
          <p:nvPr/>
        </p:nvSpPr>
        <p:spPr>
          <a:xfrm>
            <a:off x="166687" y="185801"/>
            <a:ext cx="1248410" cy="809625"/>
          </a:xfrm>
          <a:custGeom>
            <a:avLst/>
            <a:gdLst/>
            <a:ahLst/>
            <a:cxnLst/>
            <a:rect l="l" t="t" r="r" b="b"/>
            <a:pathLst>
              <a:path w="1248410" h="809625">
                <a:moveTo>
                  <a:pt x="0" y="404749"/>
                </a:moveTo>
                <a:lnTo>
                  <a:pt x="10051" y="331999"/>
                </a:lnTo>
                <a:lnTo>
                  <a:pt x="39031" y="263525"/>
                </a:lnTo>
                <a:lnTo>
                  <a:pt x="60069" y="231249"/>
                </a:lnTo>
                <a:lnTo>
                  <a:pt x="85178" y="200471"/>
                </a:lnTo>
                <a:lnTo>
                  <a:pt x="114139" y="171334"/>
                </a:lnTo>
                <a:lnTo>
                  <a:pt x="146730" y="143981"/>
                </a:lnTo>
                <a:lnTo>
                  <a:pt x="182732" y="118554"/>
                </a:lnTo>
                <a:lnTo>
                  <a:pt x="221924" y="95197"/>
                </a:lnTo>
                <a:lnTo>
                  <a:pt x="264087" y="74052"/>
                </a:lnTo>
                <a:lnTo>
                  <a:pt x="308999" y="55263"/>
                </a:lnTo>
                <a:lnTo>
                  <a:pt x="356441" y="38973"/>
                </a:lnTo>
                <a:lnTo>
                  <a:pt x="406192" y="25324"/>
                </a:lnTo>
                <a:lnTo>
                  <a:pt x="458033" y="14459"/>
                </a:lnTo>
                <a:lnTo>
                  <a:pt x="511742" y="6521"/>
                </a:lnTo>
                <a:lnTo>
                  <a:pt x="567100" y="1654"/>
                </a:lnTo>
                <a:lnTo>
                  <a:pt x="623887" y="0"/>
                </a:lnTo>
                <a:lnTo>
                  <a:pt x="680674" y="1654"/>
                </a:lnTo>
                <a:lnTo>
                  <a:pt x="736034" y="6521"/>
                </a:lnTo>
                <a:lnTo>
                  <a:pt x="789746" y="14459"/>
                </a:lnTo>
                <a:lnTo>
                  <a:pt x="841590" y="25324"/>
                </a:lnTo>
                <a:lnTo>
                  <a:pt x="891345" y="38973"/>
                </a:lnTo>
                <a:lnTo>
                  <a:pt x="938791" y="55263"/>
                </a:lnTo>
                <a:lnTo>
                  <a:pt x="983709" y="74052"/>
                </a:lnTo>
                <a:lnTo>
                  <a:pt x="1025876" y="95197"/>
                </a:lnTo>
                <a:lnTo>
                  <a:pt x="1065074" y="118554"/>
                </a:lnTo>
                <a:lnTo>
                  <a:pt x="1101081" y="143981"/>
                </a:lnTo>
                <a:lnTo>
                  <a:pt x="1133677" y="171334"/>
                </a:lnTo>
                <a:lnTo>
                  <a:pt x="1162643" y="200471"/>
                </a:lnTo>
                <a:lnTo>
                  <a:pt x="1187756" y="231249"/>
                </a:lnTo>
                <a:lnTo>
                  <a:pt x="1208798" y="263525"/>
                </a:lnTo>
                <a:lnTo>
                  <a:pt x="1237784" y="331999"/>
                </a:lnTo>
                <a:lnTo>
                  <a:pt x="1247838" y="404749"/>
                </a:lnTo>
                <a:lnTo>
                  <a:pt x="1245288" y="441588"/>
                </a:lnTo>
                <a:lnTo>
                  <a:pt x="1225547" y="512350"/>
                </a:lnTo>
                <a:lnTo>
                  <a:pt x="1187756" y="578272"/>
                </a:lnTo>
                <a:lnTo>
                  <a:pt x="1162643" y="609059"/>
                </a:lnTo>
                <a:lnTo>
                  <a:pt x="1133677" y="638206"/>
                </a:lnTo>
                <a:lnTo>
                  <a:pt x="1101081" y="665569"/>
                </a:lnTo>
                <a:lnTo>
                  <a:pt x="1065074" y="691006"/>
                </a:lnTo>
                <a:lnTo>
                  <a:pt x="1025876" y="714374"/>
                </a:lnTo>
                <a:lnTo>
                  <a:pt x="983709" y="735529"/>
                </a:lnTo>
                <a:lnTo>
                  <a:pt x="938791" y="754328"/>
                </a:lnTo>
                <a:lnTo>
                  <a:pt x="891345" y="770627"/>
                </a:lnTo>
                <a:lnTo>
                  <a:pt x="841590" y="784284"/>
                </a:lnTo>
                <a:lnTo>
                  <a:pt x="789746" y="795156"/>
                </a:lnTo>
                <a:lnTo>
                  <a:pt x="736034" y="803099"/>
                </a:lnTo>
                <a:lnTo>
                  <a:pt x="680674" y="807969"/>
                </a:lnTo>
                <a:lnTo>
                  <a:pt x="623887" y="809625"/>
                </a:lnTo>
                <a:lnTo>
                  <a:pt x="567100" y="807969"/>
                </a:lnTo>
                <a:lnTo>
                  <a:pt x="511742" y="803099"/>
                </a:lnTo>
                <a:lnTo>
                  <a:pt x="458033" y="795156"/>
                </a:lnTo>
                <a:lnTo>
                  <a:pt x="406192" y="784284"/>
                </a:lnTo>
                <a:lnTo>
                  <a:pt x="356441" y="770627"/>
                </a:lnTo>
                <a:lnTo>
                  <a:pt x="308999" y="754328"/>
                </a:lnTo>
                <a:lnTo>
                  <a:pt x="264087" y="735529"/>
                </a:lnTo>
                <a:lnTo>
                  <a:pt x="221924" y="714374"/>
                </a:lnTo>
                <a:lnTo>
                  <a:pt x="182732" y="691007"/>
                </a:lnTo>
                <a:lnTo>
                  <a:pt x="146730" y="665569"/>
                </a:lnTo>
                <a:lnTo>
                  <a:pt x="114139" y="638206"/>
                </a:lnTo>
                <a:lnTo>
                  <a:pt x="85178" y="609059"/>
                </a:lnTo>
                <a:lnTo>
                  <a:pt x="60069" y="578272"/>
                </a:lnTo>
                <a:lnTo>
                  <a:pt x="39031" y="545988"/>
                </a:lnTo>
                <a:lnTo>
                  <a:pt x="10051" y="477503"/>
                </a:lnTo>
                <a:lnTo>
                  <a:pt x="0" y="404749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32447" y="278447"/>
            <a:ext cx="507365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12065">
              <a:lnSpc>
                <a:spcPct val="100800"/>
              </a:lnSpc>
              <a:spcBef>
                <a:spcPts val="85"/>
              </a:spcBef>
            </a:pPr>
            <a:r>
              <a:rPr dirty="0" sz="1800" spc="-20">
                <a:latin typeface="Calibri"/>
                <a:cs typeface="Calibri"/>
              </a:rPr>
              <a:t>Hack Nova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426" rIns="0" bIns="0" rtlCol="0" vert="horz">
            <a:spAutoFit/>
          </a:bodyPr>
          <a:lstStyle/>
          <a:p>
            <a:pPr marL="1994535">
              <a:lnSpc>
                <a:spcPct val="100000"/>
              </a:lnSpc>
              <a:spcBef>
                <a:spcPts val="105"/>
              </a:spcBef>
            </a:pPr>
            <a:r>
              <a:rPr dirty="0" spc="-60"/>
              <a:t>IMPACT</a:t>
            </a:r>
            <a:r>
              <a:rPr dirty="0" spc="-235"/>
              <a:t> </a:t>
            </a:r>
            <a:r>
              <a:rPr dirty="0"/>
              <a:t>AND</a:t>
            </a:r>
            <a:r>
              <a:rPr dirty="0" spc="25"/>
              <a:t> </a:t>
            </a:r>
            <a:r>
              <a:rPr dirty="0" spc="-10"/>
              <a:t>BENEFITS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55" y="1197927"/>
            <a:ext cx="5995035" cy="5645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76225" indent="-228600">
              <a:lnSpc>
                <a:spcPct val="100000"/>
              </a:lnSpc>
              <a:spcBef>
                <a:spcPts val="125"/>
              </a:spcBef>
              <a:buSzPct val="95652"/>
              <a:buAutoNum type="arabicPeriod"/>
              <a:tabLst>
                <a:tab pos="276225" algn="l"/>
              </a:tabLst>
            </a:pPr>
            <a:r>
              <a:rPr dirty="0" sz="2300" b="1">
                <a:latin typeface="Calibri"/>
                <a:cs typeface="Calibri"/>
              </a:rPr>
              <a:t>Improved</a:t>
            </a:r>
            <a:r>
              <a:rPr dirty="0" sz="2300" spc="-125" b="1">
                <a:latin typeface="Calibri"/>
                <a:cs typeface="Calibri"/>
              </a:rPr>
              <a:t> </a:t>
            </a:r>
            <a:r>
              <a:rPr dirty="0" sz="2300" spc="-10" b="1">
                <a:latin typeface="Calibri"/>
                <a:cs typeface="Calibri"/>
              </a:rPr>
              <a:t>Reliability</a:t>
            </a:r>
            <a:endParaRPr sz="2300">
              <a:latin typeface="Calibri"/>
              <a:cs typeface="Calibri"/>
            </a:endParaRPr>
          </a:p>
          <a:p>
            <a:pPr lvl="1" marL="335280" indent="-284480">
              <a:lnSpc>
                <a:spcPts val="2730"/>
              </a:lnSpc>
              <a:spcBef>
                <a:spcPts val="20"/>
              </a:spcBef>
              <a:buFont typeface="Arial MT"/>
              <a:buChar char="•"/>
              <a:tabLst>
                <a:tab pos="335280" algn="l"/>
              </a:tabLst>
            </a:pPr>
            <a:r>
              <a:rPr dirty="0" sz="2300">
                <a:latin typeface="Calibri"/>
                <a:cs typeface="Calibri"/>
              </a:rPr>
              <a:t>Reduces</a:t>
            </a:r>
            <a:r>
              <a:rPr dirty="0" sz="2300" spc="-7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equipment</a:t>
            </a:r>
            <a:r>
              <a:rPr dirty="0" sz="2300" spc="-114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failures</a:t>
            </a:r>
            <a:endParaRPr sz="2300">
              <a:latin typeface="Calibri"/>
              <a:cs typeface="Calibri"/>
            </a:endParaRPr>
          </a:p>
          <a:p>
            <a:pPr lvl="1" marL="335280" indent="-284480">
              <a:lnSpc>
                <a:spcPts val="2730"/>
              </a:lnSpc>
              <a:buFont typeface="Arial MT"/>
              <a:buChar char="•"/>
              <a:tabLst>
                <a:tab pos="335280" algn="l"/>
              </a:tabLst>
            </a:pPr>
            <a:r>
              <a:rPr dirty="0" sz="2300">
                <a:latin typeface="Calibri"/>
                <a:cs typeface="Calibri"/>
              </a:rPr>
              <a:t>Provides</a:t>
            </a:r>
            <a:r>
              <a:rPr dirty="0" sz="2300" spc="-9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continuous</a:t>
            </a:r>
            <a:r>
              <a:rPr dirty="0" sz="2300" spc="-12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monitoring</a:t>
            </a:r>
            <a:endParaRPr sz="23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0"/>
              </a:spcBef>
            </a:pPr>
            <a:r>
              <a:rPr dirty="0" sz="2300" b="1">
                <a:latin typeface="Calibri"/>
                <a:cs typeface="Calibri"/>
              </a:rPr>
              <a:t>2.</a:t>
            </a:r>
            <a:r>
              <a:rPr dirty="0" sz="2300" spc="-45" b="1">
                <a:latin typeface="Calibri"/>
                <a:cs typeface="Calibri"/>
              </a:rPr>
              <a:t> </a:t>
            </a:r>
            <a:r>
              <a:rPr dirty="0" sz="2300" b="1">
                <a:latin typeface="Calibri"/>
                <a:cs typeface="Calibri"/>
              </a:rPr>
              <a:t>Energy</a:t>
            </a:r>
            <a:r>
              <a:rPr dirty="0" sz="2300" spc="-45" b="1">
                <a:latin typeface="Calibri"/>
                <a:cs typeface="Calibri"/>
              </a:rPr>
              <a:t> </a:t>
            </a:r>
            <a:r>
              <a:rPr dirty="0" sz="2300" spc="-10" b="1">
                <a:latin typeface="Calibri"/>
                <a:cs typeface="Calibri"/>
              </a:rPr>
              <a:t>Efficiency</a:t>
            </a:r>
            <a:endParaRPr sz="2300">
              <a:latin typeface="Calibri"/>
              <a:cs typeface="Calibri"/>
            </a:endParaRPr>
          </a:p>
          <a:p>
            <a:pPr marL="335280" indent="-28448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35280" algn="l"/>
              </a:tabLst>
            </a:pPr>
            <a:r>
              <a:rPr dirty="0" sz="2300" spc="-10">
                <a:latin typeface="Calibri"/>
                <a:cs typeface="Calibri"/>
              </a:rPr>
              <a:t>Heater/fan</a:t>
            </a:r>
            <a:r>
              <a:rPr dirty="0" sz="2300" spc="-3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operate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only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when</a:t>
            </a:r>
            <a:r>
              <a:rPr dirty="0" sz="2300" spc="-8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required</a:t>
            </a:r>
            <a:endParaRPr sz="2300">
              <a:latin typeface="Calibri"/>
              <a:cs typeface="Calibri"/>
            </a:endParaRPr>
          </a:p>
          <a:p>
            <a:pPr marL="335280" indent="-28448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35280" algn="l"/>
              </a:tabLst>
            </a:pPr>
            <a:r>
              <a:rPr dirty="0" sz="2300">
                <a:latin typeface="Calibri"/>
                <a:cs typeface="Calibri"/>
              </a:rPr>
              <a:t>Reduces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unnecessary</a:t>
            </a:r>
            <a:r>
              <a:rPr dirty="0" sz="2300" spc="-114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power</a:t>
            </a:r>
            <a:r>
              <a:rPr dirty="0" sz="2300" spc="-6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consumption</a:t>
            </a:r>
            <a:endParaRPr sz="2300">
              <a:latin typeface="Calibri"/>
              <a:cs typeface="Calibri"/>
            </a:endParaRPr>
          </a:p>
          <a:p>
            <a:pPr marL="50800">
              <a:lnSpc>
                <a:spcPts val="2730"/>
              </a:lnSpc>
              <a:spcBef>
                <a:spcPts val="15"/>
              </a:spcBef>
            </a:pPr>
            <a:r>
              <a:rPr dirty="0" sz="2300" b="1">
                <a:latin typeface="Calibri"/>
                <a:cs typeface="Calibri"/>
              </a:rPr>
              <a:t>3.</a:t>
            </a:r>
            <a:r>
              <a:rPr dirty="0" sz="2300" spc="-45" b="1">
                <a:latin typeface="Calibri"/>
                <a:cs typeface="Calibri"/>
              </a:rPr>
              <a:t> </a:t>
            </a:r>
            <a:r>
              <a:rPr dirty="0" sz="2300" b="1">
                <a:latin typeface="Calibri"/>
                <a:cs typeface="Calibri"/>
              </a:rPr>
              <a:t>Longer</a:t>
            </a:r>
            <a:r>
              <a:rPr dirty="0" sz="2300" spc="-70" b="1">
                <a:latin typeface="Calibri"/>
                <a:cs typeface="Calibri"/>
              </a:rPr>
              <a:t> </a:t>
            </a:r>
            <a:r>
              <a:rPr dirty="0" sz="2300" spc="-10" b="1">
                <a:latin typeface="Calibri"/>
                <a:cs typeface="Calibri"/>
              </a:rPr>
              <a:t>Equipment</a:t>
            </a:r>
            <a:r>
              <a:rPr dirty="0" sz="2300" spc="-30" b="1">
                <a:latin typeface="Calibri"/>
                <a:cs typeface="Calibri"/>
              </a:rPr>
              <a:t> </a:t>
            </a:r>
            <a:r>
              <a:rPr dirty="0" sz="2300" spc="-20" b="1">
                <a:latin typeface="Calibri"/>
                <a:cs typeface="Calibri"/>
              </a:rPr>
              <a:t>Life</a:t>
            </a:r>
            <a:endParaRPr sz="2300">
              <a:latin typeface="Calibri"/>
              <a:cs typeface="Calibri"/>
            </a:endParaRPr>
          </a:p>
          <a:p>
            <a:pPr marL="335280" indent="-284480">
              <a:lnSpc>
                <a:spcPts val="2730"/>
              </a:lnSpc>
              <a:buFont typeface="Arial MT"/>
              <a:buChar char="•"/>
              <a:tabLst>
                <a:tab pos="335280" algn="l"/>
              </a:tabLst>
            </a:pPr>
            <a:r>
              <a:rPr dirty="0" sz="2300">
                <a:latin typeface="Calibri"/>
                <a:cs typeface="Calibri"/>
              </a:rPr>
              <a:t>Protects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batteries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and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electronic</a:t>
            </a:r>
            <a:r>
              <a:rPr dirty="0" sz="2300" spc="-8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components</a:t>
            </a:r>
            <a:endParaRPr sz="2300">
              <a:latin typeface="Calibri"/>
              <a:cs typeface="Calibri"/>
            </a:endParaRPr>
          </a:p>
          <a:p>
            <a:pPr marL="335280" indent="-28448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35280" algn="l"/>
              </a:tabLst>
            </a:pPr>
            <a:r>
              <a:rPr dirty="0" sz="2300">
                <a:latin typeface="Calibri"/>
                <a:cs typeface="Calibri"/>
              </a:rPr>
              <a:t>Reduces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thermal</a:t>
            </a:r>
            <a:r>
              <a:rPr dirty="0" sz="2300" spc="-8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and</a:t>
            </a:r>
            <a:r>
              <a:rPr dirty="0" sz="2300" spc="-7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electrical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stress</a:t>
            </a:r>
            <a:endParaRPr sz="23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0"/>
              </a:spcBef>
            </a:pPr>
            <a:r>
              <a:rPr dirty="0" sz="2300" b="1">
                <a:latin typeface="Calibri"/>
                <a:cs typeface="Calibri"/>
              </a:rPr>
              <a:t>4.</a:t>
            </a:r>
            <a:r>
              <a:rPr dirty="0" sz="2300" spc="-60" b="1">
                <a:latin typeface="Calibri"/>
                <a:cs typeface="Calibri"/>
              </a:rPr>
              <a:t> </a:t>
            </a:r>
            <a:r>
              <a:rPr dirty="0" sz="2300" b="1">
                <a:latin typeface="Calibri"/>
                <a:cs typeface="Calibri"/>
              </a:rPr>
              <a:t>Autonomous</a:t>
            </a:r>
            <a:r>
              <a:rPr dirty="0" sz="2300" spc="-65" b="1">
                <a:latin typeface="Calibri"/>
                <a:cs typeface="Calibri"/>
              </a:rPr>
              <a:t> </a:t>
            </a:r>
            <a:r>
              <a:rPr dirty="0" sz="2300" spc="-10" b="1">
                <a:latin typeface="Calibri"/>
                <a:cs typeface="Calibri"/>
              </a:rPr>
              <a:t>Operation</a:t>
            </a:r>
            <a:endParaRPr sz="2300">
              <a:latin typeface="Calibri"/>
              <a:cs typeface="Calibri"/>
            </a:endParaRPr>
          </a:p>
          <a:p>
            <a:pPr marL="335915" indent="-28511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335915" algn="l"/>
              </a:tabLst>
            </a:pPr>
            <a:r>
              <a:rPr dirty="0" sz="2300">
                <a:latin typeface="Calibri"/>
                <a:cs typeface="Calibri"/>
              </a:rPr>
              <a:t>Automatic</a:t>
            </a:r>
            <a:r>
              <a:rPr dirty="0" sz="2300" spc="-5">
                <a:latin typeface="Calibri"/>
                <a:cs typeface="Calibri"/>
              </a:rPr>
              <a:t> </a:t>
            </a:r>
            <a:r>
              <a:rPr dirty="0" sz="2300" b="1">
                <a:latin typeface="Calibri"/>
                <a:cs typeface="Calibri"/>
              </a:rPr>
              <a:t>Sense</a:t>
            </a:r>
            <a:r>
              <a:rPr dirty="0" sz="2300" spc="-40" b="1">
                <a:latin typeface="Calibri"/>
                <a:cs typeface="Calibri"/>
              </a:rPr>
              <a:t> </a:t>
            </a:r>
            <a:r>
              <a:rPr dirty="0" sz="2300" b="1">
                <a:latin typeface="Calibri"/>
                <a:cs typeface="Calibri"/>
              </a:rPr>
              <a:t>→</a:t>
            </a:r>
            <a:r>
              <a:rPr dirty="0" sz="2300" spc="-35" b="1">
                <a:latin typeface="Calibri"/>
                <a:cs typeface="Calibri"/>
              </a:rPr>
              <a:t> </a:t>
            </a:r>
            <a:r>
              <a:rPr dirty="0" sz="2300" b="1">
                <a:latin typeface="Calibri"/>
                <a:cs typeface="Calibri"/>
              </a:rPr>
              <a:t>Decide</a:t>
            </a:r>
            <a:r>
              <a:rPr dirty="0" sz="2300" spc="-55" b="1">
                <a:latin typeface="Calibri"/>
                <a:cs typeface="Calibri"/>
              </a:rPr>
              <a:t> </a:t>
            </a:r>
            <a:r>
              <a:rPr dirty="0" sz="2300" b="1">
                <a:latin typeface="Calibri"/>
                <a:cs typeface="Calibri"/>
              </a:rPr>
              <a:t>→</a:t>
            </a:r>
            <a:r>
              <a:rPr dirty="0" sz="2300" spc="-35" b="1">
                <a:latin typeface="Calibri"/>
                <a:cs typeface="Calibri"/>
              </a:rPr>
              <a:t> </a:t>
            </a:r>
            <a:r>
              <a:rPr dirty="0" sz="2300" spc="-25" b="1">
                <a:latin typeface="Calibri"/>
                <a:cs typeface="Calibri"/>
              </a:rPr>
              <a:t>Act</a:t>
            </a:r>
            <a:endParaRPr sz="2300">
              <a:latin typeface="Calibri"/>
              <a:cs typeface="Calibri"/>
            </a:endParaRPr>
          </a:p>
          <a:p>
            <a:pPr marL="335280" indent="-284480">
              <a:lnSpc>
                <a:spcPts val="2730"/>
              </a:lnSpc>
              <a:spcBef>
                <a:spcPts val="20"/>
              </a:spcBef>
              <a:buFont typeface="Arial MT"/>
              <a:buChar char="•"/>
              <a:tabLst>
                <a:tab pos="335280" algn="l"/>
                <a:tab pos="1713230" algn="l"/>
                <a:tab pos="2698115" algn="l"/>
                <a:tab pos="3420745" algn="l"/>
                <a:tab pos="5128260" algn="l"/>
              </a:tabLst>
            </a:pPr>
            <a:r>
              <a:rPr dirty="0" sz="2300" spc="-10">
                <a:latin typeface="Calibri"/>
                <a:cs typeface="Calibri"/>
              </a:rPr>
              <a:t>Reduces</a:t>
            </a:r>
            <a:r>
              <a:rPr dirty="0" sz="2300">
                <a:latin typeface="Calibri"/>
                <a:cs typeface="Calibri"/>
              </a:rPr>
              <a:t>	</a:t>
            </a:r>
            <a:r>
              <a:rPr dirty="0" sz="2300" spc="-20">
                <a:latin typeface="Calibri"/>
                <a:cs typeface="Calibri"/>
              </a:rPr>
              <a:t>need</a:t>
            </a:r>
            <a:r>
              <a:rPr dirty="0" sz="2300">
                <a:latin typeface="Calibri"/>
                <a:cs typeface="Calibri"/>
              </a:rPr>
              <a:t>	</a:t>
            </a:r>
            <a:r>
              <a:rPr dirty="0" sz="2300" spc="-25">
                <a:latin typeface="Calibri"/>
                <a:cs typeface="Calibri"/>
              </a:rPr>
              <a:t>for</a:t>
            </a:r>
            <a:r>
              <a:rPr dirty="0" sz="2300">
                <a:latin typeface="Calibri"/>
                <a:cs typeface="Calibri"/>
              </a:rPr>
              <a:t>	</a:t>
            </a:r>
            <a:r>
              <a:rPr dirty="0" sz="2300" spc="-10">
                <a:latin typeface="Calibri"/>
                <a:cs typeface="Calibri"/>
              </a:rPr>
              <a:t>continuous</a:t>
            </a:r>
            <a:r>
              <a:rPr dirty="0" sz="2300">
                <a:latin typeface="Calibri"/>
                <a:cs typeface="Calibri"/>
              </a:rPr>
              <a:t>	</a:t>
            </a:r>
            <a:r>
              <a:rPr dirty="0" sz="2300" spc="-10">
                <a:latin typeface="Calibri"/>
                <a:cs typeface="Calibri"/>
              </a:rPr>
              <a:t>human</a:t>
            </a:r>
            <a:endParaRPr sz="2300">
              <a:latin typeface="Calibri"/>
              <a:cs typeface="Calibri"/>
            </a:endParaRPr>
          </a:p>
          <a:p>
            <a:pPr marL="336550">
              <a:lnSpc>
                <a:spcPts val="2730"/>
              </a:lnSpc>
            </a:pPr>
            <a:r>
              <a:rPr dirty="0" sz="2300" spc="-10">
                <a:latin typeface="Calibri"/>
                <a:cs typeface="Calibri"/>
              </a:rPr>
              <a:t>intervention</a:t>
            </a:r>
            <a:endParaRPr sz="2300">
              <a:latin typeface="Calibri"/>
              <a:cs typeface="Calibri"/>
            </a:endParaRPr>
          </a:p>
          <a:p>
            <a:pPr marL="343535" indent="-292735">
              <a:lnSpc>
                <a:spcPct val="100000"/>
              </a:lnSpc>
              <a:spcBef>
                <a:spcPts val="20"/>
              </a:spcBef>
              <a:buAutoNum type="arabicPeriod" startAt="5"/>
              <a:tabLst>
                <a:tab pos="343535" algn="l"/>
              </a:tabLst>
            </a:pPr>
            <a:r>
              <a:rPr dirty="0" sz="2300" b="1">
                <a:latin typeface="Calibri"/>
                <a:cs typeface="Calibri"/>
              </a:rPr>
              <a:t>Predictive</a:t>
            </a:r>
            <a:r>
              <a:rPr dirty="0" sz="2300" spc="-100" b="1">
                <a:latin typeface="Calibri"/>
                <a:cs typeface="Calibri"/>
              </a:rPr>
              <a:t> </a:t>
            </a:r>
            <a:r>
              <a:rPr dirty="0" sz="2300" spc="-10" b="1">
                <a:latin typeface="Calibri"/>
                <a:cs typeface="Calibri"/>
              </a:rPr>
              <a:t>Maintenance</a:t>
            </a:r>
            <a:endParaRPr sz="2300">
              <a:latin typeface="Calibri"/>
              <a:cs typeface="Calibri"/>
            </a:endParaRPr>
          </a:p>
          <a:p>
            <a:pPr lvl="1" marL="335915" indent="-28511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35915" algn="l"/>
              </a:tabLst>
            </a:pPr>
            <a:r>
              <a:rPr dirty="0" sz="2300">
                <a:latin typeface="Calibri"/>
                <a:cs typeface="Calibri"/>
              </a:rPr>
              <a:t>Records</a:t>
            </a:r>
            <a:r>
              <a:rPr dirty="0" sz="2300" spc="-9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equipment</a:t>
            </a:r>
            <a:r>
              <a:rPr dirty="0" sz="2300" spc="-9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health</a:t>
            </a:r>
            <a:r>
              <a:rPr dirty="0" sz="2300" spc="-105">
                <a:latin typeface="Calibri"/>
                <a:cs typeface="Calibri"/>
              </a:rPr>
              <a:t> </a:t>
            </a:r>
            <a:r>
              <a:rPr dirty="0" sz="2300" spc="-20">
                <a:latin typeface="Calibri"/>
                <a:cs typeface="Calibri"/>
              </a:rPr>
              <a:t>data</a:t>
            </a:r>
            <a:endParaRPr sz="2300">
              <a:latin typeface="Calibri"/>
              <a:cs typeface="Calibri"/>
            </a:endParaRPr>
          </a:p>
          <a:p>
            <a:pPr lvl="1" marL="335280" indent="-28448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35280" algn="l"/>
              </a:tabLst>
            </a:pPr>
            <a:r>
              <a:rPr dirty="0" sz="2300">
                <a:latin typeface="Calibri"/>
                <a:cs typeface="Calibri"/>
              </a:rPr>
              <a:t>Detects</a:t>
            </a:r>
            <a:r>
              <a:rPr dirty="0" sz="2300" spc="-8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abnormal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trends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before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major</a:t>
            </a:r>
            <a:r>
              <a:rPr dirty="0" sz="2300" spc="-80">
                <a:latin typeface="Calibri"/>
                <a:cs typeface="Calibri"/>
              </a:rPr>
              <a:t> </a:t>
            </a:r>
            <a:r>
              <a:rPr dirty="0" sz="2300" spc="100">
                <a:latin typeface="Calibri"/>
                <a:cs typeface="Calibri"/>
              </a:rPr>
              <a:t>f</a:t>
            </a:r>
            <a:r>
              <a:rPr dirty="0" sz="2300" spc="70">
                <a:latin typeface="Calibri"/>
                <a:cs typeface="Calibri"/>
              </a:rPr>
              <a:t>a</a:t>
            </a:r>
            <a:r>
              <a:rPr dirty="0" sz="2300" spc="-245">
                <a:latin typeface="Calibri"/>
                <a:cs typeface="Calibri"/>
              </a:rPr>
              <a:t>i</a:t>
            </a:r>
            <a:r>
              <a:rPr dirty="0" baseline="62500" sz="1800" spc="-855">
                <a:solidFill>
                  <a:srgbClr val="FFFFFF"/>
                </a:solidFill>
                <a:latin typeface="Calibri"/>
                <a:cs typeface="Calibri"/>
              </a:rPr>
              <a:t>@</a:t>
            </a:r>
            <a:r>
              <a:rPr dirty="0" sz="2300" spc="130">
                <a:latin typeface="Calibri"/>
                <a:cs typeface="Calibri"/>
              </a:rPr>
              <a:t>l</a:t>
            </a:r>
            <a:r>
              <a:rPr dirty="0" sz="2300" spc="190">
                <a:latin typeface="Calibri"/>
                <a:cs typeface="Calibri"/>
              </a:rPr>
              <a:t>u</a:t>
            </a:r>
            <a:r>
              <a:rPr dirty="0" sz="2300" spc="75">
                <a:latin typeface="Calibri"/>
                <a:cs typeface="Calibri"/>
              </a:rPr>
              <a:t>r</a:t>
            </a:r>
            <a:r>
              <a:rPr dirty="0" sz="2300" spc="140">
                <a:latin typeface="Calibri"/>
                <a:cs typeface="Calibri"/>
              </a:rPr>
              <a:t>e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8137" y="252475"/>
            <a:ext cx="1248410" cy="809625"/>
          </a:xfrm>
          <a:custGeom>
            <a:avLst/>
            <a:gdLst/>
            <a:ahLst/>
            <a:cxnLst/>
            <a:rect l="l" t="t" r="r" b="b"/>
            <a:pathLst>
              <a:path w="1248410" h="809625">
                <a:moveTo>
                  <a:pt x="0" y="404749"/>
                </a:moveTo>
                <a:lnTo>
                  <a:pt x="10051" y="331999"/>
                </a:lnTo>
                <a:lnTo>
                  <a:pt x="39031" y="263525"/>
                </a:lnTo>
                <a:lnTo>
                  <a:pt x="60069" y="231249"/>
                </a:lnTo>
                <a:lnTo>
                  <a:pt x="85178" y="200471"/>
                </a:lnTo>
                <a:lnTo>
                  <a:pt x="114139" y="171334"/>
                </a:lnTo>
                <a:lnTo>
                  <a:pt x="146730" y="143981"/>
                </a:lnTo>
                <a:lnTo>
                  <a:pt x="182732" y="118554"/>
                </a:lnTo>
                <a:lnTo>
                  <a:pt x="221924" y="95197"/>
                </a:lnTo>
                <a:lnTo>
                  <a:pt x="264087" y="74052"/>
                </a:lnTo>
                <a:lnTo>
                  <a:pt x="308999" y="55263"/>
                </a:lnTo>
                <a:lnTo>
                  <a:pt x="356441" y="38973"/>
                </a:lnTo>
                <a:lnTo>
                  <a:pt x="406192" y="25324"/>
                </a:lnTo>
                <a:lnTo>
                  <a:pt x="458033" y="14459"/>
                </a:lnTo>
                <a:lnTo>
                  <a:pt x="511742" y="6521"/>
                </a:lnTo>
                <a:lnTo>
                  <a:pt x="567100" y="1654"/>
                </a:lnTo>
                <a:lnTo>
                  <a:pt x="623887" y="0"/>
                </a:lnTo>
                <a:lnTo>
                  <a:pt x="680672" y="1654"/>
                </a:lnTo>
                <a:lnTo>
                  <a:pt x="736030" y="6521"/>
                </a:lnTo>
                <a:lnTo>
                  <a:pt x="789741" y="14459"/>
                </a:lnTo>
                <a:lnTo>
                  <a:pt x="841585" y="25324"/>
                </a:lnTo>
                <a:lnTo>
                  <a:pt x="891339" y="38973"/>
                </a:lnTo>
                <a:lnTo>
                  <a:pt x="938786" y="55263"/>
                </a:lnTo>
                <a:lnTo>
                  <a:pt x="983703" y="74052"/>
                </a:lnTo>
                <a:lnTo>
                  <a:pt x="1025871" y="95197"/>
                </a:lnTo>
                <a:lnTo>
                  <a:pt x="1065069" y="118554"/>
                </a:lnTo>
                <a:lnTo>
                  <a:pt x="1101077" y="143981"/>
                </a:lnTo>
                <a:lnTo>
                  <a:pt x="1133674" y="171334"/>
                </a:lnTo>
                <a:lnTo>
                  <a:pt x="1162640" y="200471"/>
                </a:lnTo>
                <a:lnTo>
                  <a:pt x="1187754" y="231249"/>
                </a:lnTo>
                <a:lnTo>
                  <a:pt x="1208797" y="263525"/>
                </a:lnTo>
                <a:lnTo>
                  <a:pt x="1237784" y="331999"/>
                </a:lnTo>
                <a:lnTo>
                  <a:pt x="1247838" y="404749"/>
                </a:lnTo>
                <a:lnTo>
                  <a:pt x="1245288" y="441588"/>
                </a:lnTo>
                <a:lnTo>
                  <a:pt x="1225547" y="512350"/>
                </a:lnTo>
                <a:lnTo>
                  <a:pt x="1187754" y="578272"/>
                </a:lnTo>
                <a:lnTo>
                  <a:pt x="1162640" y="609059"/>
                </a:lnTo>
                <a:lnTo>
                  <a:pt x="1133674" y="638206"/>
                </a:lnTo>
                <a:lnTo>
                  <a:pt x="1101077" y="665569"/>
                </a:lnTo>
                <a:lnTo>
                  <a:pt x="1065069" y="691006"/>
                </a:lnTo>
                <a:lnTo>
                  <a:pt x="1025871" y="714374"/>
                </a:lnTo>
                <a:lnTo>
                  <a:pt x="983703" y="735529"/>
                </a:lnTo>
                <a:lnTo>
                  <a:pt x="938786" y="754328"/>
                </a:lnTo>
                <a:lnTo>
                  <a:pt x="891339" y="770627"/>
                </a:lnTo>
                <a:lnTo>
                  <a:pt x="841585" y="784284"/>
                </a:lnTo>
                <a:lnTo>
                  <a:pt x="789741" y="795156"/>
                </a:lnTo>
                <a:lnTo>
                  <a:pt x="736030" y="803099"/>
                </a:lnTo>
                <a:lnTo>
                  <a:pt x="680672" y="807969"/>
                </a:lnTo>
                <a:lnTo>
                  <a:pt x="623887" y="809625"/>
                </a:lnTo>
                <a:lnTo>
                  <a:pt x="567100" y="807969"/>
                </a:lnTo>
                <a:lnTo>
                  <a:pt x="511742" y="803099"/>
                </a:lnTo>
                <a:lnTo>
                  <a:pt x="458033" y="795156"/>
                </a:lnTo>
                <a:lnTo>
                  <a:pt x="406192" y="784284"/>
                </a:lnTo>
                <a:lnTo>
                  <a:pt x="356441" y="770627"/>
                </a:lnTo>
                <a:lnTo>
                  <a:pt x="308999" y="754328"/>
                </a:lnTo>
                <a:lnTo>
                  <a:pt x="264087" y="735529"/>
                </a:lnTo>
                <a:lnTo>
                  <a:pt x="221924" y="714374"/>
                </a:lnTo>
                <a:lnTo>
                  <a:pt x="182732" y="691007"/>
                </a:lnTo>
                <a:lnTo>
                  <a:pt x="146730" y="665569"/>
                </a:lnTo>
                <a:lnTo>
                  <a:pt x="114139" y="638206"/>
                </a:lnTo>
                <a:lnTo>
                  <a:pt x="85178" y="609059"/>
                </a:lnTo>
                <a:lnTo>
                  <a:pt x="60069" y="578272"/>
                </a:lnTo>
                <a:lnTo>
                  <a:pt x="39031" y="545988"/>
                </a:lnTo>
                <a:lnTo>
                  <a:pt x="10051" y="477503"/>
                </a:lnTo>
                <a:lnTo>
                  <a:pt x="0" y="404749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5167" y="350202"/>
            <a:ext cx="507365" cy="5772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 indent="12065">
              <a:lnSpc>
                <a:spcPct val="100899"/>
              </a:lnSpc>
              <a:spcBef>
                <a:spcPts val="80"/>
              </a:spcBef>
            </a:pPr>
            <a:r>
              <a:rPr dirty="0" sz="1800" spc="-20">
                <a:latin typeface="Calibri"/>
                <a:cs typeface="Calibri"/>
              </a:rPr>
              <a:t>Hack Nova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1725" y="0"/>
            <a:ext cx="2200275" cy="107632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498209" y="1571307"/>
            <a:ext cx="12103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latin typeface="Calibri"/>
                <a:cs typeface="Calibri"/>
              </a:rPr>
              <a:t>LIMITATIONS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98209" y="1847786"/>
            <a:ext cx="5464175" cy="4697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b="1">
                <a:latin typeface="Calibri"/>
                <a:cs typeface="Calibri"/>
              </a:rPr>
              <a:t>Extreme</a:t>
            </a:r>
            <a:r>
              <a:rPr dirty="0" sz="1800" spc="-8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Environmental</a:t>
            </a:r>
            <a:r>
              <a:rPr dirty="0" sz="180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Conditions</a:t>
            </a:r>
            <a:endParaRPr sz="1800">
              <a:latin typeface="Calibri"/>
              <a:cs typeface="Calibri"/>
            </a:endParaRPr>
          </a:p>
          <a:p>
            <a:pPr lvl="1" marL="756285" marR="5080" indent="-286385">
              <a:lnSpc>
                <a:spcPct val="1008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 spc="-10">
                <a:latin typeface="Calibri"/>
                <a:cs typeface="Calibri"/>
              </a:rPr>
              <a:t>Very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low</a:t>
            </a:r>
            <a:r>
              <a:rPr dirty="0" sz="1800" spc="-10">
                <a:latin typeface="Calibri"/>
                <a:cs typeface="Calibri"/>
              </a:rPr>
              <a:t> temperature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low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pressure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affect </a:t>
            </a:r>
            <a:r>
              <a:rPr dirty="0" sz="1800">
                <a:latin typeface="Calibri"/>
                <a:cs typeface="Calibri"/>
              </a:rPr>
              <a:t>sensor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electronic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performance.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3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b="1">
                <a:latin typeface="Calibri"/>
                <a:cs typeface="Calibri"/>
              </a:rPr>
              <a:t>Power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Availability</a:t>
            </a:r>
            <a:endParaRPr sz="1800">
              <a:latin typeface="Calibri"/>
              <a:cs typeface="Calibri"/>
            </a:endParaRPr>
          </a:p>
          <a:p>
            <a:pPr lvl="1" marL="756285" marR="206375" indent="-286385">
              <a:lnSpc>
                <a:spcPts val="2180"/>
              </a:lnSpc>
              <a:spcBef>
                <a:spcPts val="3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Calibri"/>
                <a:cs typeface="Calibri"/>
              </a:rPr>
              <a:t>Heating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continuous monitoring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increase </a:t>
            </a:r>
            <a:r>
              <a:rPr dirty="0" sz="1800">
                <a:latin typeface="Calibri"/>
                <a:cs typeface="Calibri"/>
              </a:rPr>
              <a:t>power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consumption.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800" b="1">
                <a:latin typeface="Calibri"/>
                <a:cs typeface="Calibri"/>
              </a:rPr>
              <a:t>Sensor</a:t>
            </a:r>
            <a:r>
              <a:rPr dirty="0" sz="1800" spc="-10" b="1">
                <a:latin typeface="Calibri"/>
                <a:cs typeface="Calibri"/>
              </a:rPr>
              <a:t> Reliability</a:t>
            </a:r>
            <a:endParaRPr sz="1800">
              <a:latin typeface="Calibri"/>
              <a:cs typeface="Calibri"/>
            </a:endParaRPr>
          </a:p>
          <a:p>
            <a:pPr lvl="1" marL="756285" marR="168275" indent="-286385">
              <a:lnSpc>
                <a:spcPts val="2180"/>
              </a:lnSpc>
              <a:spcBef>
                <a:spcPts val="7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1800" spc="-10">
                <a:latin typeface="Calibri"/>
                <a:cs typeface="Calibri"/>
              </a:rPr>
              <a:t>Sensors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require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calibration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rugged </a:t>
            </a:r>
            <a:r>
              <a:rPr dirty="0" sz="1800">
                <a:latin typeface="Calibri"/>
                <a:cs typeface="Calibri"/>
              </a:rPr>
              <a:t>protection for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long-</a:t>
            </a:r>
            <a:r>
              <a:rPr dirty="0" sz="1800">
                <a:latin typeface="Calibri"/>
                <a:cs typeface="Calibri"/>
              </a:rPr>
              <a:t>term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high-</a:t>
            </a:r>
            <a:r>
              <a:rPr dirty="0" sz="1800">
                <a:latin typeface="Calibri"/>
                <a:cs typeface="Calibri"/>
              </a:rPr>
              <a:t>altitude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operation.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025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800" b="1">
                <a:latin typeface="Calibri"/>
                <a:cs typeface="Calibri"/>
              </a:rPr>
              <a:t>Prototype</a:t>
            </a:r>
            <a:r>
              <a:rPr dirty="0" sz="1800" spc="-8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Limitations</a:t>
            </a:r>
            <a:endParaRPr sz="1800">
              <a:latin typeface="Calibri"/>
              <a:cs typeface="Calibri"/>
            </a:endParaRPr>
          </a:p>
          <a:p>
            <a:pPr lvl="1" marL="756285" marR="29209" indent="-286385">
              <a:lnSpc>
                <a:spcPct val="100800"/>
              </a:lnSpc>
              <a:spcBef>
                <a:spcPts val="5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Calibri"/>
                <a:cs typeface="Calibri"/>
              </a:rPr>
              <a:t>Our</a:t>
            </a:r>
            <a:r>
              <a:rPr dirty="0" sz="1800" spc="-10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low-cost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prototype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simulate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extreme </a:t>
            </a:r>
            <a:r>
              <a:rPr dirty="0" sz="1800">
                <a:latin typeface="Calibri"/>
                <a:cs typeface="Calibri"/>
              </a:rPr>
              <a:t>conditions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but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cannot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fully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replicate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actual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Ladakh </a:t>
            </a:r>
            <a:r>
              <a:rPr dirty="0" sz="1800">
                <a:latin typeface="Calibri"/>
                <a:cs typeface="Calibri"/>
              </a:rPr>
              <a:t>HAA/SHAA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environments.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3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b="1">
                <a:latin typeface="Calibri"/>
                <a:cs typeface="Calibri"/>
              </a:rPr>
              <a:t>Field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Deployment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Challenges</a:t>
            </a:r>
            <a:endParaRPr sz="1800">
              <a:latin typeface="Calibri"/>
              <a:cs typeface="Calibri"/>
            </a:endParaRPr>
          </a:p>
          <a:p>
            <a:pPr lvl="1" marL="756285" marR="425450" indent="-286385">
              <a:lnSpc>
                <a:spcPts val="2180"/>
              </a:lnSpc>
              <a:spcBef>
                <a:spcPts val="3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1800" spc="-10">
                <a:latin typeface="Calibri"/>
                <a:cs typeface="Calibri"/>
              </a:rPr>
              <a:t>Industrial-</a:t>
            </a:r>
            <a:r>
              <a:rPr dirty="0" sz="1800">
                <a:latin typeface="Calibri"/>
                <a:cs typeface="Calibri"/>
              </a:rPr>
              <a:t>grade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components,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secure communication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extensive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field</a:t>
            </a:r>
            <a:r>
              <a:rPr dirty="0" sz="1800" spc="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testing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are </a:t>
            </a:r>
            <a:r>
              <a:rPr dirty="0" sz="1800" spc="-10">
                <a:latin typeface="Calibri"/>
                <a:cs typeface="Calibri"/>
              </a:rPr>
              <a:t>required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before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real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DRDO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deployment.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426" rIns="0" bIns="0" rtlCol="0" vert="horz">
            <a:spAutoFit/>
          </a:bodyPr>
          <a:lstStyle/>
          <a:p>
            <a:pPr marL="89281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REFERENCE</a:t>
            </a:r>
            <a:r>
              <a:rPr dirty="0" spc="-40"/>
              <a:t> </a:t>
            </a:r>
            <a:r>
              <a:rPr dirty="0" spc="-15"/>
              <a:t>OF</a:t>
            </a:r>
            <a:r>
              <a:rPr dirty="0" spc="-330"/>
              <a:t> </a:t>
            </a:r>
            <a:r>
              <a:rPr dirty="0"/>
              <a:t>A</a:t>
            </a:r>
            <a:r>
              <a:rPr dirty="0" spc="-215"/>
              <a:t> </a:t>
            </a:r>
            <a:r>
              <a:rPr dirty="0" spc="-10"/>
              <a:t>PROTOTYPE</a:t>
            </a:r>
          </a:p>
        </p:txBody>
      </p:sp>
      <p:sp>
        <p:nvSpPr>
          <p:cNvPr id="3" name="object 3"/>
          <p:cNvSpPr/>
          <p:nvPr/>
        </p:nvSpPr>
        <p:spPr>
          <a:xfrm>
            <a:off x="338137" y="252475"/>
            <a:ext cx="1248410" cy="809625"/>
          </a:xfrm>
          <a:custGeom>
            <a:avLst/>
            <a:gdLst/>
            <a:ahLst/>
            <a:cxnLst/>
            <a:rect l="l" t="t" r="r" b="b"/>
            <a:pathLst>
              <a:path w="1248410" h="809625">
                <a:moveTo>
                  <a:pt x="0" y="404749"/>
                </a:moveTo>
                <a:lnTo>
                  <a:pt x="10051" y="331999"/>
                </a:lnTo>
                <a:lnTo>
                  <a:pt x="39031" y="263525"/>
                </a:lnTo>
                <a:lnTo>
                  <a:pt x="60069" y="231249"/>
                </a:lnTo>
                <a:lnTo>
                  <a:pt x="85178" y="200471"/>
                </a:lnTo>
                <a:lnTo>
                  <a:pt x="114139" y="171334"/>
                </a:lnTo>
                <a:lnTo>
                  <a:pt x="146730" y="143981"/>
                </a:lnTo>
                <a:lnTo>
                  <a:pt x="182732" y="118554"/>
                </a:lnTo>
                <a:lnTo>
                  <a:pt x="221924" y="95197"/>
                </a:lnTo>
                <a:lnTo>
                  <a:pt x="264087" y="74052"/>
                </a:lnTo>
                <a:lnTo>
                  <a:pt x="308999" y="55263"/>
                </a:lnTo>
                <a:lnTo>
                  <a:pt x="356441" y="38973"/>
                </a:lnTo>
                <a:lnTo>
                  <a:pt x="406192" y="25324"/>
                </a:lnTo>
                <a:lnTo>
                  <a:pt x="458033" y="14459"/>
                </a:lnTo>
                <a:lnTo>
                  <a:pt x="511742" y="6521"/>
                </a:lnTo>
                <a:lnTo>
                  <a:pt x="567100" y="1654"/>
                </a:lnTo>
                <a:lnTo>
                  <a:pt x="623887" y="0"/>
                </a:lnTo>
                <a:lnTo>
                  <a:pt x="680672" y="1654"/>
                </a:lnTo>
                <a:lnTo>
                  <a:pt x="736030" y="6521"/>
                </a:lnTo>
                <a:lnTo>
                  <a:pt x="789741" y="14459"/>
                </a:lnTo>
                <a:lnTo>
                  <a:pt x="841585" y="25324"/>
                </a:lnTo>
                <a:lnTo>
                  <a:pt x="891339" y="38973"/>
                </a:lnTo>
                <a:lnTo>
                  <a:pt x="938786" y="55263"/>
                </a:lnTo>
                <a:lnTo>
                  <a:pt x="983703" y="74052"/>
                </a:lnTo>
                <a:lnTo>
                  <a:pt x="1025871" y="95197"/>
                </a:lnTo>
                <a:lnTo>
                  <a:pt x="1065069" y="118554"/>
                </a:lnTo>
                <a:lnTo>
                  <a:pt x="1101077" y="143981"/>
                </a:lnTo>
                <a:lnTo>
                  <a:pt x="1133674" y="171334"/>
                </a:lnTo>
                <a:lnTo>
                  <a:pt x="1162640" y="200471"/>
                </a:lnTo>
                <a:lnTo>
                  <a:pt x="1187754" y="231249"/>
                </a:lnTo>
                <a:lnTo>
                  <a:pt x="1208797" y="263525"/>
                </a:lnTo>
                <a:lnTo>
                  <a:pt x="1237784" y="331999"/>
                </a:lnTo>
                <a:lnTo>
                  <a:pt x="1247838" y="404749"/>
                </a:lnTo>
                <a:lnTo>
                  <a:pt x="1245288" y="441588"/>
                </a:lnTo>
                <a:lnTo>
                  <a:pt x="1225547" y="512350"/>
                </a:lnTo>
                <a:lnTo>
                  <a:pt x="1187754" y="578272"/>
                </a:lnTo>
                <a:lnTo>
                  <a:pt x="1162640" y="609059"/>
                </a:lnTo>
                <a:lnTo>
                  <a:pt x="1133674" y="638206"/>
                </a:lnTo>
                <a:lnTo>
                  <a:pt x="1101077" y="665569"/>
                </a:lnTo>
                <a:lnTo>
                  <a:pt x="1065069" y="691006"/>
                </a:lnTo>
                <a:lnTo>
                  <a:pt x="1025871" y="714374"/>
                </a:lnTo>
                <a:lnTo>
                  <a:pt x="983703" y="735529"/>
                </a:lnTo>
                <a:lnTo>
                  <a:pt x="938786" y="754328"/>
                </a:lnTo>
                <a:lnTo>
                  <a:pt x="891339" y="770627"/>
                </a:lnTo>
                <a:lnTo>
                  <a:pt x="841585" y="784284"/>
                </a:lnTo>
                <a:lnTo>
                  <a:pt x="789741" y="795156"/>
                </a:lnTo>
                <a:lnTo>
                  <a:pt x="736030" y="803099"/>
                </a:lnTo>
                <a:lnTo>
                  <a:pt x="680672" y="807969"/>
                </a:lnTo>
                <a:lnTo>
                  <a:pt x="623887" y="809625"/>
                </a:lnTo>
                <a:lnTo>
                  <a:pt x="567100" y="807969"/>
                </a:lnTo>
                <a:lnTo>
                  <a:pt x="511742" y="803099"/>
                </a:lnTo>
                <a:lnTo>
                  <a:pt x="458033" y="795156"/>
                </a:lnTo>
                <a:lnTo>
                  <a:pt x="406192" y="784284"/>
                </a:lnTo>
                <a:lnTo>
                  <a:pt x="356441" y="770627"/>
                </a:lnTo>
                <a:lnTo>
                  <a:pt x="308999" y="754328"/>
                </a:lnTo>
                <a:lnTo>
                  <a:pt x="264087" y="735529"/>
                </a:lnTo>
                <a:lnTo>
                  <a:pt x="221924" y="714374"/>
                </a:lnTo>
                <a:lnTo>
                  <a:pt x="182732" y="691007"/>
                </a:lnTo>
                <a:lnTo>
                  <a:pt x="146730" y="665569"/>
                </a:lnTo>
                <a:lnTo>
                  <a:pt x="114139" y="638206"/>
                </a:lnTo>
                <a:lnTo>
                  <a:pt x="85178" y="609059"/>
                </a:lnTo>
                <a:lnTo>
                  <a:pt x="60069" y="578272"/>
                </a:lnTo>
                <a:lnTo>
                  <a:pt x="39031" y="545988"/>
                </a:lnTo>
                <a:lnTo>
                  <a:pt x="10051" y="477503"/>
                </a:lnTo>
                <a:lnTo>
                  <a:pt x="0" y="404749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05167" y="350202"/>
            <a:ext cx="507365" cy="5772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 indent="12065">
              <a:lnSpc>
                <a:spcPct val="100899"/>
              </a:lnSpc>
              <a:spcBef>
                <a:spcPts val="80"/>
              </a:spcBef>
            </a:pPr>
            <a:r>
              <a:rPr dirty="0" sz="1800" spc="-20">
                <a:latin typeface="Calibri"/>
                <a:cs typeface="Calibri"/>
              </a:rPr>
              <a:t>Hack Nova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2200" y="9525"/>
            <a:ext cx="2209800" cy="1104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125" y="1552575"/>
            <a:ext cx="10982325" cy="4991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2026-09-10T08:26:51Z</dcterms:created>
  <dcterms:modified xsi:type="dcterms:W3CDTF">2026-09-10T08:26:51Z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2026-09-10T00:00:00Z</vt:filetime>
  </property>
  <property fmtid="{D5CDD505-2E9C-101B-9397-08002B2CF9AE}" pid="4" name="LastSaved">
    <vt:filetime>2026-09-10T00:00:00Z</vt:filetime>
  </property>
</Properties>
</file>